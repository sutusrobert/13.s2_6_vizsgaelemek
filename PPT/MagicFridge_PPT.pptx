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slideLayouts/slideLayout12.xml" ContentType="application/vnd.openxmlformats-officedocument.presentationml.slideLayout+xml"/>
  <Override PartName="/ppt/theme/theme12.xml" ContentType="application/vnd.openxmlformats-officedocument.theme+xml"/>
  <Override PartName="/ppt/theme/theme1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  <p:sldMasterId id="2147483670" r:id="rId12"/>
  </p:sldMasterIdLst>
  <p:notesMasterIdLst>
    <p:notesMasterId r:id="rId28"/>
  </p:notesMasterIdLst>
  <p:sldIdLst>
    <p:sldId id="256" r:id="rId13"/>
    <p:sldId id="257" r:id="rId14"/>
    <p:sldId id="258" r:id="rId15"/>
    <p:sldId id="259" r:id="rId16"/>
    <p:sldId id="260" r:id="rId17"/>
    <p:sldId id="270" r:id="rId18"/>
    <p:sldId id="271" r:id="rId19"/>
    <p:sldId id="272" r:id="rId20"/>
    <p:sldId id="261" r:id="rId21"/>
    <p:sldId id="262" r:id="rId22"/>
    <p:sldId id="263" r:id="rId23"/>
    <p:sldId id="264" r:id="rId24"/>
    <p:sldId id="265" r:id="rId25"/>
    <p:sldId id="273" r:id="rId26"/>
    <p:sldId id="266" r:id="rId27"/>
  </p:sldIdLst>
  <p:sldSz cx="14630400" cy="8229600"/>
  <p:notesSz cx="8229600" cy="146304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8614" autoAdjust="0"/>
  </p:normalViewPr>
  <p:slideViewPr>
    <p:cSldViewPr snapToGrid="0">
      <p:cViewPr varScale="1">
        <p:scale>
          <a:sx n="65" d="100"/>
          <a:sy n="65" d="100"/>
        </p:scale>
        <p:origin x="181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1.xml"/><Relationship Id="rId18" Type="http://schemas.openxmlformats.org/officeDocument/2006/relationships/slide" Target="slides/slide6.xml"/><Relationship Id="rId26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9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" Target="slides/slide5.xml"/><Relationship Id="rId25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4.xml"/><Relationship Id="rId20" Type="http://schemas.openxmlformats.org/officeDocument/2006/relationships/slide" Target="slides/slide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2.xml"/><Relationship Id="rId32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3.xml"/><Relationship Id="rId23" Type="http://schemas.openxmlformats.org/officeDocument/2006/relationships/slide" Target="slides/slide11.xml"/><Relationship Id="rId28" Type="http://schemas.openxmlformats.org/officeDocument/2006/relationships/notesMaster" Target="notesMasters/notesMaster1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7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2.xml"/><Relationship Id="rId22" Type="http://schemas.openxmlformats.org/officeDocument/2006/relationships/slide" Target="slides/slide10.xml"/><Relationship Id="rId27" Type="http://schemas.openxmlformats.org/officeDocument/2006/relationships/slide" Target="slides/slide15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hu-HU" sz="44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hu-HU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hu-HU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hu-H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hu-HU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59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hu-H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hu-HU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hu-H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05C0AE2C-FF9D-4E22-898F-5AC8655CDAB6}" type="slidenum">
              <a:rPr lang="hu-HU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hu-HU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Üdvözlünk mindenkit. Én Udvari Dominik vagyok és a társam pedig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Sutús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Róbert.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Magic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Fridge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projektünket szeretnénk bemutatni. A rendszer célja, hogy a háztartási készletkezelést, a receptválasztást és a bevásárlást egy közös platformon támogassa. A fő értékünk, hogy kevesebb legyen az élelmiszer-pazarlás, gyorsabb legyen a napi döntéshozatal, és átláthatóbb legyen az otthoni élelmiszerkészlet.</a:t>
            </a:r>
          </a:p>
        </p:txBody>
      </p:sp>
      <p:sp>
        <p:nvSpPr>
          <p:cNvPr id="34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E172A08-ECAD-454D-983C-A7B4D671A2E6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A kiinduló probléma az, hogy a legtöbb háztartásban nehéz fejben tartani, miből mennyi van otthon, mi fog hamarosan lejárni, és mit kell pótolni. Emiatt gyakori a dupla vásárlás és a kidobott élelmiszer. A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Magic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Fridge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erre ad gyakorlati megoldást készletfigyeléssel, lejáratkövetéssel és receptalapú bevásárlási támogatással.</a:t>
            </a:r>
          </a:p>
        </p:txBody>
      </p:sp>
      <p:sp>
        <p:nvSpPr>
          <p:cNvPr id="350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70FCB4-EA29-422C-A7E5-E36D899546D8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2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A rendszer több egymásra épülő modulból áll: belépés/regisztráció, háztartáskezelés, raktárkezelés, receptmodul, üzenetek és bevásárlólista. A lényeg, hogy ezek nem külön-külön működnek, hanem folyamatot alkotnak: készletből indulunk, receptet választunk, hiány esetén listát készítünk, majd vásárlás után frissítjük a készletet.</a:t>
            </a:r>
          </a:p>
        </p:txBody>
      </p:sp>
      <p:sp>
        <p:nvSpPr>
          <p:cNvPr id="35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9CBDCB-A993-4734-A142-2B036FC4528B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3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A projekt backendje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Laravel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alapú PHP környezetben készült, a frontend oldalon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Blade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nézetek, JavaScript és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Vite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támogatja a megjelenítést és interakciót. Az adatokat relációs adatbázisban tároljuk. A backend üzleti logikát kezel, a frontend a felhasználói élményt, a külső API pedig receptadatokkal bővíti a rendszert.</a:t>
            </a:r>
          </a:p>
        </p:txBody>
      </p:sp>
      <p:sp>
        <p:nvSpPr>
          <p:cNvPr id="356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1707D0-918D-46A2-A977-72C0981A525D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4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Az adatbázis külön táblákban kezeli a felhasználókat, háztartásokat, készletelemeket, recepteket, üzeneteket és bevásárlólista-elemeket. Rövid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demo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során jól látható a teljes körfolyamat: belépés, készletfeltöltés, receptellenőrzés, hiánylistázás, bevásárlólista és készletfrissítés.</a:t>
            </a:r>
          </a:p>
        </p:txBody>
      </p:sp>
      <p:sp>
        <p:nvSpPr>
          <p:cNvPr id="359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61CE21-A160-452C-91C7-8DC58C280F06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5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Ez az oldal röviden bemutatja, hogy a rendszer szerveroldali része </a:t>
            </a:r>
            <a:r>
              <a:rPr lang="hu-H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Laravel</a:t>
            </a:r>
            <a:r>
              <a:rPr lang="hu-H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12 alapon fut (PHP 8.2), </a:t>
            </a:r>
            <a:r>
              <a:rPr lang="hu-H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Composer</a:t>
            </a:r>
            <a:r>
              <a:rPr lang="hu-H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csomagkezeléssel és </a:t>
            </a:r>
            <a:r>
              <a:rPr lang="hu-H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Artisan</a:t>
            </a:r>
            <a:r>
              <a:rPr lang="hu-H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CLI eszközökkel. A </a:t>
            </a:r>
            <a:r>
              <a:rPr lang="hu-H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Routing</a:t>
            </a:r>
            <a:r>
              <a:rPr lang="hu-H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Auth rész mutatja, hogy a webes útvonalak a </a:t>
            </a:r>
            <a:r>
              <a:rPr lang="hu-H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routes</a:t>
            </a:r>
            <a:r>
              <a:rPr lang="hu-H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hu-H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web.php</a:t>
            </a:r>
            <a:r>
              <a:rPr lang="hu-H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fájlban vannak, és a beléptetés kezelése külön </a:t>
            </a:r>
            <a:r>
              <a:rPr lang="hu-H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AuthController</a:t>
            </a:r>
            <a:r>
              <a:rPr lang="hu-H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-ben történik. A Vezérlők blokkban a fő üzleti logikát kezelő kontrollerek szerepelnek (Household, </a:t>
            </a:r>
            <a:r>
              <a:rPr lang="hu-H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Inventory</a:t>
            </a:r>
            <a:r>
              <a:rPr lang="hu-H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Recipe, </a:t>
            </a:r>
            <a:r>
              <a:rPr lang="hu-H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Message</a:t>
            </a:r>
            <a:r>
              <a:rPr lang="hu-H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amelyek az egyes funkciókért felelnek. A Mail &amp; </a:t>
            </a:r>
            <a:r>
              <a:rPr lang="hu-H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Queue</a:t>
            </a:r>
            <a:r>
              <a:rPr lang="hu-HU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rész azt jelzi, hogy az e-mail értesítések és a hosszabb futású műveletek aszinkron feldolgozással mennek, így gyorsabb marad a felhasználói élmény.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05C0AE2C-FF9D-4E22-898F-5AC8655CDAB6}" type="slidenum">
              <a:rPr lang="hu-HU" sz="1400" b="0" strike="noStrike" spc="-1" smtClean="0">
                <a:solidFill>
                  <a:srgbClr val="000000"/>
                </a:solidFill>
                <a:latin typeface="Times New Roman"/>
              </a:rPr>
              <a:t>6</a:t>
            </a:fld>
            <a:endParaRPr lang="hu-HU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438433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felület reszponzív kialakítása külön optimalizált nézeteket biztosít asztali, tablet és mobil eszközökre, figyelembe véve a különböző </a:t>
            </a:r>
            <a:r>
              <a:rPr lang="hu-HU" dirty="0" err="1"/>
              <a:t>kijelzőméreteket</a:t>
            </a:r>
            <a:r>
              <a:rPr lang="hu-HU" dirty="0"/>
              <a:t> és felhasználói interakciókat. Az asztali verzió 3 oszlopos rácsszerkezetet és teljes navigációt alkalmaz, míg kisebb képernyőkön kompakt menü és egyoszlopos elrendezés javítja a használhatóságot. A rendszer nyomtatási nézetet is támogat, amely tiszta, strukturált és nyomtatható tartalommegjelenítést biztosít 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@media print</a:t>
            </a:r>
            <a:r>
              <a:rPr lang="hu-HU" dirty="0"/>
              <a:t> használatával.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05C0AE2C-FF9D-4E22-898F-5AC8655CDAB6}" type="slidenum">
              <a:rPr lang="hu-HU" sz="1400" b="0" strike="noStrike" spc="-1" smtClean="0">
                <a:solidFill>
                  <a:srgbClr val="000000"/>
                </a:solidFill>
                <a:latin typeface="Times New Roman"/>
              </a:rPr>
              <a:t>8</a:t>
            </a:fld>
            <a:endParaRPr lang="hu-HU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771617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A rendszer figyelmeztet a lejárathoz közeli termékekre, így időben lehet reagálni. A belépéshez kötött funkciók védik az adatokat, és biztosítják, hogy csak jogosult felhasználók érjék el a háztartási információkat. Az üzenet/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invite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logika pedig támogatja a közös működést és a meghívások kezelését.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hu-HU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hu-HU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dirty="0"/>
              <a:t>Az üzenetkezelő modul központi kommunikációs felületet biztosít a háztartás tagjai számára, támogatva a meghívások kezelését, automatikus értesítéseket és az üzenetek státuszkövetését. A rendszer különböző üzenettípusokat alkalmaz színalapú jelöléssel, ezáltal átláthatóbbá és gyorsabban értelmezhetővé válik az információáramlás. A kialakítás célja a hatékony koordináció és a valós idejű együttműködés támogatása egy egységes, felhasználóbarát felületen.</a:t>
            </a:r>
            <a:endParaRPr lang="hu-HU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2A9E565-09C2-448D-8FCD-138A0E05B725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9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A háztartás funkció lehetővé teszi, hogy több felhasználó ugyanazon készlettel dolgozzon. Ez különösen hasznos családoknál vagy közös albérletben, mert mindenki ugyanazt a valós készletállapotot látja. Így átláthatóbbá válik, mi van a hűtőben és kamrában, és csökken a kommunikációs félreértés.</a:t>
            </a:r>
          </a:p>
        </p:txBody>
      </p:sp>
      <p:sp>
        <p:nvSpPr>
          <p:cNvPr id="365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A027473-FF45-49F9-B72D-6F75367B8441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10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-216000">
              <a:buNone/>
            </a:pPr>
            <a:r>
              <a:rPr lang="hu-HU" sz="1800" dirty="0"/>
              <a:t>A raktárkezelő modul lehetővé teszi a háztartási készletek strukturált nyilvántartását, beleértve a termékek mennyiségének, kategóriájának és tárolási helyének kezelését. A rendszer támogatja a lejárati idő rögzítését és automatikus értesítéseket küld a közelgő lejáratokról, ezzel csökkentve a pazarlást és növelve az átláthatóságot. Az intuitív felület gyors adatbevitelt és hatékony készletkövetést biztosít a felhasználók számára.</a:t>
            </a:r>
            <a:endParaRPr lang="hu-HU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37B96C4-8782-4684-9367-2BFEB3021B85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11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>
                <a:solidFill>
                  <a:srgbClr val="000000"/>
                </a:solidFill>
                <a:latin typeface="Arial"/>
              </a:rPr>
              <a:t>A receptmodulban saját receptek és külső API-ból érkező receptek is kezelhetők. A rendszer a recept hozzávalóit összeveti az aktuális készlettel, és megmutatja, mi hiányzik. Ez főzés előtt pontos képet ad, és segít abban, hogy célzottan vásároljunk, ne "biztonságból" mindent pluszban.</a:t>
            </a:r>
          </a:p>
        </p:txBody>
      </p:sp>
      <p:sp>
        <p:nvSpPr>
          <p:cNvPr id="371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8D65B0F-0079-4DE9-9BF0-0C9AB3F17167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12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>
                <a:solidFill>
                  <a:srgbClr val="000000"/>
                </a:solidFill>
                <a:latin typeface="Arial"/>
              </a:rPr>
              <a:t>A bevásárlólista részben kézi felvitellel, részben receptből származó hiányzó tételekből épül. Mivel a lista közösen használható, a háztartás tagjai egymás munkáját is látják, így kevesebb a kimaradó tétel. A vásárlás emiatt gyorsabb, tervezettebb és költséghatékonyabb lesz.</a:t>
            </a:r>
          </a:p>
        </p:txBody>
      </p:sp>
      <p:sp>
        <p:nvSpPr>
          <p:cNvPr id="374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A4473F-211D-4344-AEEC-38E194F41D00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13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projekt fejlesztése csapatmunkában valósult meg, ahol a backend, adatbázis-kezelés és API-integrációk mellett a frontend és UI/UX tervezés is elkülönített feladatkörök szerint készült. A közös munkafolyamatot tervezés, </a:t>
            </a:r>
            <a:r>
              <a:rPr lang="hu-HU" dirty="0" err="1"/>
              <a:t>kódreview</a:t>
            </a:r>
            <a:r>
              <a:rPr lang="hu-HU" dirty="0"/>
              <a:t> és tesztelés támogatta agilis szemléletben, biztosítva a hatékony együttműködést. Az eredmény egy működő, reszponzív és felhasználóbarát alkalmazás lett, amely a </a:t>
            </a:r>
            <a:r>
              <a:rPr lang="hu-HU" dirty="0" err="1"/>
              <a:t>Magic</a:t>
            </a:r>
            <a:r>
              <a:rPr lang="hu-HU" dirty="0"/>
              <a:t> </a:t>
            </a:r>
            <a:r>
              <a:rPr lang="hu-HU" dirty="0" err="1"/>
              <a:t>Fridge</a:t>
            </a:r>
            <a:r>
              <a:rPr lang="hu-HU" dirty="0"/>
              <a:t> rendszer teljes funkcionalitását biztosítja.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05C0AE2C-FF9D-4E22-898F-5AC8655CDAB6}" type="slidenum">
              <a:rPr lang="hu-HU" sz="1400" b="0" strike="noStrike" spc="-1" smtClean="0">
                <a:solidFill>
                  <a:srgbClr val="000000"/>
                </a:solidFill>
                <a:latin typeface="Times New Roman"/>
              </a:rPr>
              <a:t>14</a:t>
            </a:fld>
            <a:endParaRPr lang="hu-HU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136807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Összességében a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Magic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Fridge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egy használható, valós problémára épülő megoldás. A legnagyobb előny a jobb átláthatóság, kevesebb pazarlás és egyszerűbb közös háztartási működés. Jövőben tovább bővíthető például okosabb ajánlásokkal vagy mobil fókuszú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funkciókkal.ű</a:t>
            </a:r>
            <a:endParaRPr lang="hu-HU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hu-HU" sz="20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hu-HU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hu-HU" sz="2000" dirty="0"/>
              <a:t>A </a:t>
            </a:r>
            <a:r>
              <a:rPr lang="hu-HU" sz="2000" dirty="0" err="1"/>
              <a:t>Magic</a:t>
            </a:r>
            <a:r>
              <a:rPr lang="hu-HU" sz="2000" dirty="0"/>
              <a:t> </a:t>
            </a:r>
            <a:r>
              <a:rPr lang="hu-HU" sz="2000" dirty="0" err="1"/>
              <a:t>Fridge</a:t>
            </a:r>
            <a:r>
              <a:rPr lang="hu-HU" sz="2000" dirty="0"/>
              <a:t> projekt sikeresen megvalósította az alapvető funkciókat, többek között a hitelesítési rendszert, a háztartás- és raktárkezelést, valamint az automatikus bevásárlólista és recept API integrációját. A fejlesztés során kiemelt szempont volt a skálázhatóság és a felhasználói élmény, amely stabil alapot biztosít a jövőbeli bővítésekhez. A tervezett fejlesztések között szerepel mobilalkalmazás támogatás, AI-alapú ajánlórendszer, vonalkód-olvasó integráció, valamint részletes statisztikai és riport funkciók bevezetése.</a:t>
            </a:r>
            <a:endParaRPr lang="hu-HU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3BF8CB8-BC8E-4853-AE86-748307799305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15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_rels/slideMaster12.xml.rels><?xml version="1.0" encoding="UTF-8" standalone="yes"?>
<Relationships xmlns="http://schemas.openxmlformats.org/package/2006/relationships"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062320" y="4369320"/>
            <a:ext cx="4505040" cy="570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>
                <a:solidFill>
                  <a:srgbClr val="3371A5"/>
                </a:solidFill>
                <a:latin typeface="Calibri Light"/>
                <a:ea typeface="Syne Bold"/>
              </a:rPr>
              <a:t>Magic Fridge</a:t>
            </a:r>
            <a:r>
              <a:rPr lang="en-US" sz="35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 </a:t>
            </a:r>
            <a:r>
              <a:rPr lang="en-US" sz="35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🧊</a:t>
            </a:r>
            <a:endParaRPr lang="hu-HU" sz="3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3482640" y="5036040"/>
            <a:ext cx="7664040" cy="42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ts val="3300"/>
              </a:lnSpc>
              <a:tabLst>
                <a:tab pos="0" algn="l"/>
              </a:tabLst>
            </a:pPr>
            <a:r>
              <a:rPr lang="en-US" sz="265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Intelligens hűtő- és kamrakezelő rendszer</a:t>
            </a:r>
            <a:endParaRPr lang="hu-HU" sz="2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 2"/>
          <p:cNvSpPr/>
          <p:nvPr/>
        </p:nvSpPr>
        <p:spPr>
          <a:xfrm>
            <a:off x="837720" y="5817240"/>
            <a:ext cx="12954240" cy="38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Kevesebb pazarlás. Okosabb bevásárlás. Egyszerűbb háztartás.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3"/>
          <p:cNvSpPr/>
          <p:nvPr/>
        </p:nvSpPr>
        <p:spPr>
          <a:xfrm>
            <a:off x="4500000" y="6480000"/>
            <a:ext cx="5219640" cy="38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Készítette: Sutús Róbert , Udvari Dominik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6" name="Picture 9"/>
          <p:cNvPicPr/>
          <p:nvPr/>
        </p:nvPicPr>
        <p:blipFill>
          <a:blip r:embed="rId3"/>
          <a:stretch/>
        </p:blipFill>
        <p:spPr>
          <a:xfrm>
            <a:off x="5280480" y="539280"/>
            <a:ext cx="3357720" cy="3241800"/>
          </a:xfrm>
          <a:prstGeom prst="rect">
            <a:avLst/>
          </a:prstGeom>
          <a:ln w="0">
            <a:noFill/>
          </a:ln>
        </p:spPr>
      </p:pic>
      <p:pic>
        <p:nvPicPr>
          <p:cNvPr id="67" name="Picture 11"/>
          <p:cNvPicPr/>
          <p:nvPr/>
        </p:nvPicPr>
        <p:blipFill>
          <a:blip r:embed="rId4"/>
          <a:stretch/>
        </p:blipFill>
        <p:spPr>
          <a:xfrm>
            <a:off x="272160" y="138240"/>
            <a:ext cx="3241080" cy="4801320"/>
          </a:xfrm>
          <a:prstGeom prst="rect">
            <a:avLst/>
          </a:prstGeom>
          <a:ln w="0">
            <a:noFill/>
          </a:ln>
        </p:spPr>
      </p:pic>
      <p:pic>
        <p:nvPicPr>
          <p:cNvPr id="68" name="Picture 13"/>
          <p:cNvPicPr/>
          <p:nvPr/>
        </p:nvPicPr>
        <p:blipFill>
          <a:blip r:embed="rId5"/>
          <a:stretch/>
        </p:blipFill>
        <p:spPr>
          <a:xfrm>
            <a:off x="11086200" y="189000"/>
            <a:ext cx="3271320" cy="4845960"/>
          </a:xfrm>
          <a:prstGeom prst="rect">
            <a:avLst/>
          </a:prstGeom>
          <a:ln w="0">
            <a:noFill/>
          </a:ln>
        </p:spPr>
      </p:pic>
      <p:sp>
        <p:nvSpPr>
          <p:cNvPr id="69" name="Rectangle 68"/>
          <p:cNvSpPr/>
          <p:nvPr/>
        </p:nvSpPr>
        <p:spPr>
          <a:xfrm>
            <a:off x="540000" y="5760000"/>
            <a:ext cx="180360" cy="426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1060232" y="5230102"/>
            <a:ext cx="1689088" cy="34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hu-HU" sz="1800" b="0" strike="noStrike" spc="-1" dirty="0" err="1">
                <a:solidFill>
                  <a:srgbClr val="FFFFFF"/>
                </a:solidFill>
                <a:latin typeface="Arial"/>
              </a:rPr>
              <a:t>Sutús</a:t>
            </a:r>
            <a:r>
              <a:rPr lang="hu-HU" sz="1800" b="0" strike="noStrike" spc="-1" dirty="0">
                <a:solidFill>
                  <a:srgbClr val="FFFFFF"/>
                </a:solidFill>
                <a:latin typeface="Arial"/>
              </a:rPr>
              <a:t> Róbert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1880000" y="5233680"/>
            <a:ext cx="1789560" cy="34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hu-HU" sz="1800" b="0" strike="noStrike" spc="-1">
                <a:solidFill>
                  <a:srgbClr val="FFFFFF"/>
                </a:solidFill>
                <a:latin typeface="Arial"/>
              </a:rPr>
              <a:t>Udvari Dominik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981360" y="3790080"/>
            <a:ext cx="1538280" cy="70956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 1"/>
          <p:cNvSpPr/>
          <p:nvPr/>
        </p:nvSpPr>
        <p:spPr>
          <a:xfrm>
            <a:off x="1260000" y="3961800"/>
            <a:ext cx="92808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PROBLÉMA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 2"/>
          <p:cNvSpPr/>
          <p:nvPr/>
        </p:nvSpPr>
        <p:spPr>
          <a:xfrm>
            <a:off x="981360" y="4946040"/>
            <a:ext cx="916596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hu-HU" sz="3500" b="1" strike="noStrike" spc="-1" dirty="0">
                <a:solidFill>
                  <a:srgbClr val="FFFFFF"/>
                </a:solidFill>
                <a:latin typeface="Calibri Light"/>
              </a:rPr>
              <a:t>Projekt célja </a:t>
            </a:r>
            <a:endParaRPr lang="hu-HU" sz="35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Shape 3"/>
          <p:cNvSpPr/>
          <p:nvPr/>
        </p:nvSpPr>
        <p:spPr>
          <a:xfrm>
            <a:off x="981360" y="5868360"/>
            <a:ext cx="4158000" cy="1739520"/>
          </a:xfrm>
          <a:prstGeom prst="roundRect">
            <a:avLst>
              <a:gd name="adj" fmla="val 206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 4"/>
          <p:cNvSpPr/>
          <p:nvPr/>
        </p:nvSpPr>
        <p:spPr>
          <a:xfrm>
            <a:off x="1220760" y="6107760"/>
            <a:ext cx="34761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🗑️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Élelmiszer-pazarlás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5"/>
          <p:cNvSpPr/>
          <p:nvPr/>
        </p:nvSpPr>
        <p:spPr>
          <a:xfrm>
            <a:off x="1220760" y="6603120"/>
            <a:ext cx="3679560" cy="76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Lejárt termékek észrevétlenül kerülnek a kukába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Shape 6"/>
          <p:cNvSpPr/>
          <p:nvPr/>
        </p:nvSpPr>
        <p:spPr>
          <a:xfrm>
            <a:off x="5379480" y="5868360"/>
            <a:ext cx="4158000" cy="1739520"/>
          </a:xfrm>
          <a:prstGeom prst="roundRect">
            <a:avLst>
              <a:gd name="adj" fmla="val 206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7"/>
          <p:cNvSpPr/>
          <p:nvPr/>
        </p:nvSpPr>
        <p:spPr>
          <a:xfrm>
            <a:off x="5618520" y="6107760"/>
            <a:ext cx="351072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📋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Kaotikus bevásárlás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8"/>
          <p:cNvSpPr/>
          <p:nvPr/>
        </p:nvSpPr>
        <p:spPr>
          <a:xfrm>
            <a:off x="5618520" y="6603120"/>
            <a:ext cx="3679560" cy="76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Nincs áttekintés, mi van otthon és mi hiányzik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Shape 9"/>
          <p:cNvSpPr/>
          <p:nvPr/>
        </p:nvSpPr>
        <p:spPr>
          <a:xfrm>
            <a:off x="9777240" y="5868360"/>
            <a:ext cx="4158000" cy="1739520"/>
          </a:xfrm>
          <a:prstGeom prst="roundRect">
            <a:avLst>
              <a:gd name="adj" fmla="val 206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 10"/>
          <p:cNvSpPr/>
          <p:nvPr/>
        </p:nvSpPr>
        <p:spPr>
          <a:xfrm>
            <a:off x="10016640" y="6107760"/>
            <a:ext cx="340020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👨‍👩‍👧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Koordináció hiánya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11"/>
          <p:cNvSpPr/>
          <p:nvPr/>
        </p:nvSpPr>
        <p:spPr>
          <a:xfrm>
            <a:off x="10016640" y="6603120"/>
            <a:ext cx="3679560" cy="76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Többen vásárolnak, mindenki mást vesz meg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5" name="Picture 15"/>
          <p:cNvPicPr/>
          <p:nvPr/>
        </p:nvPicPr>
        <p:blipFill>
          <a:blip r:embed="rId3"/>
          <a:stretch/>
        </p:blipFill>
        <p:spPr>
          <a:xfrm>
            <a:off x="3420000" y="180000"/>
            <a:ext cx="10481400" cy="47880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0"/>
          <p:cNvSpPr/>
          <p:nvPr/>
        </p:nvSpPr>
        <p:spPr>
          <a:xfrm>
            <a:off x="837720" y="2922480"/>
            <a:ext cx="1027800" cy="307800"/>
          </a:xfrm>
          <a:prstGeom prst="roundRect">
            <a:avLst>
              <a:gd name="adj" fmla="val 6981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1"/>
          <p:cNvSpPr/>
          <p:nvPr/>
        </p:nvSpPr>
        <p:spPr>
          <a:xfrm>
            <a:off x="945360" y="2976480"/>
            <a:ext cx="812520" cy="20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51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D9E1FF"/>
                </a:solidFill>
                <a:latin typeface="Calibri Light"/>
                <a:ea typeface="arial"/>
              </a:rPr>
              <a:t>MEGOLDÁS</a:t>
            </a:r>
            <a:endParaRPr lang="hu-HU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2"/>
          <p:cNvSpPr/>
          <p:nvPr/>
        </p:nvSpPr>
        <p:spPr>
          <a:xfrm>
            <a:off x="837720" y="3285000"/>
            <a:ext cx="5292360" cy="42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3300"/>
              </a:lnSpc>
              <a:tabLst>
                <a:tab pos="0" algn="l"/>
              </a:tabLst>
            </a:pPr>
            <a:r>
              <a:rPr lang="en-US" sz="265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A Magic Fridge főbb funkciói</a:t>
            </a:r>
            <a:endParaRPr lang="hu-HU" sz="2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Shape 3"/>
          <p:cNvSpPr/>
          <p:nvPr/>
        </p:nvSpPr>
        <p:spPr>
          <a:xfrm>
            <a:off x="837720" y="3909240"/>
            <a:ext cx="4227840" cy="1878480"/>
          </a:xfrm>
          <a:prstGeom prst="roundRect">
            <a:avLst>
              <a:gd name="adj" fmla="val 143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Shape 4"/>
          <p:cNvSpPr/>
          <p:nvPr/>
        </p:nvSpPr>
        <p:spPr>
          <a:xfrm>
            <a:off x="1017000" y="4088880"/>
            <a:ext cx="537840" cy="537840"/>
          </a:xfrm>
          <a:prstGeom prst="roundRect">
            <a:avLst>
              <a:gd name="adj" fmla="val 16978173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8" name="EmojiIcon"/>
          <p:cNvSpPr/>
          <p:nvPr/>
        </p:nvSpPr>
        <p:spPr>
          <a:xfrm>
            <a:off x="1106100" y="417762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📦</a:t>
            </a:r>
          </a:p>
        </p:txBody>
      </p:sp>
      <p:sp>
        <p:nvSpPr>
          <p:cNvPr id="92" name="Text 5"/>
          <p:cNvSpPr/>
          <p:nvPr/>
        </p:nvSpPr>
        <p:spPr>
          <a:xfrm>
            <a:off x="1017000" y="4761720"/>
            <a:ext cx="2520720" cy="26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049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Raktárkészlet kezelés</a:t>
            </a:r>
            <a:endParaRPr lang="hu-HU" sz="1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 6"/>
          <p:cNvSpPr/>
          <p:nvPr/>
        </p:nvSpPr>
        <p:spPr>
          <a:xfrm>
            <a:off x="1017000" y="5106600"/>
            <a:ext cx="3868920" cy="25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95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D9E1FF"/>
                </a:solidFill>
                <a:latin typeface="Calibri Light"/>
                <a:ea typeface="arial"/>
              </a:rPr>
              <a:t>Mennyiség és lejárati idő nyomon követése</a:t>
            </a:r>
            <a:endParaRPr lang="hu-HU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Shape 7"/>
          <p:cNvSpPr/>
          <p:nvPr/>
        </p:nvSpPr>
        <p:spPr>
          <a:xfrm>
            <a:off x="5200920" y="3909240"/>
            <a:ext cx="4227840" cy="1878480"/>
          </a:xfrm>
          <a:prstGeom prst="roundRect">
            <a:avLst>
              <a:gd name="adj" fmla="val 143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Shape 8"/>
          <p:cNvSpPr/>
          <p:nvPr/>
        </p:nvSpPr>
        <p:spPr>
          <a:xfrm>
            <a:off x="5380200" y="4088880"/>
            <a:ext cx="537840" cy="537840"/>
          </a:xfrm>
          <a:prstGeom prst="roundRect">
            <a:avLst>
              <a:gd name="adj" fmla="val 16978173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2" name="EmojiIcon"/>
          <p:cNvSpPr/>
          <p:nvPr/>
        </p:nvSpPr>
        <p:spPr>
          <a:xfrm>
            <a:off x="5469300" y="417762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🛒</a:t>
            </a:r>
          </a:p>
        </p:txBody>
      </p:sp>
      <p:sp>
        <p:nvSpPr>
          <p:cNvPr id="97" name="Text 9"/>
          <p:cNvSpPr/>
          <p:nvPr/>
        </p:nvSpPr>
        <p:spPr>
          <a:xfrm>
            <a:off x="5380200" y="4761720"/>
            <a:ext cx="3156840" cy="26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049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Automatikus bevásárlólista</a:t>
            </a:r>
            <a:endParaRPr lang="hu-HU" sz="1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10"/>
          <p:cNvSpPr/>
          <p:nvPr/>
        </p:nvSpPr>
        <p:spPr>
          <a:xfrm>
            <a:off x="5380200" y="5106600"/>
            <a:ext cx="3868920" cy="50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195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D9E1FF"/>
                </a:solidFill>
                <a:latin typeface="Calibri Light"/>
                <a:ea typeface="arial"/>
              </a:rPr>
              <a:t>Hiányzó termékek automatikusan listára kerülnek</a:t>
            </a:r>
            <a:endParaRPr lang="hu-HU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Shape 11"/>
          <p:cNvSpPr/>
          <p:nvPr/>
        </p:nvSpPr>
        <p:spPr>
          <a:xfrm>
            <a:off x="9564120" y="3909240"/>
            <a:ext cx="4227840" cy="1878480"/>
          </a:xfrm>
          <a:prstGeom prst="roundRect">
            <a:avLst>
              <a:gd name="adj" fmla="val 143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Shape 12"/>
          <p:cNvSpPr/>
          <p:nvPr/>
        </p:nvSpPr>
        <p:spPr>
          <a:xfrm>
            <a:off x="9743400" y="4088880"/>
            <a:ext cx="537840" cy="537840"/>
          </a:xfrm>
          <a:prstGeom prst="roundRect">
            <a:avLst>
              <a:gd name="adj" fmla="val 16978173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2" name="EmojiIcon"/>
          <p:cNvSpPr/>
          <p:nvPr/>
        </p:nvSpPr>
        <p:spPr>
          <a:xfrm>
            <a:off x="9832500" y="417762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🍳</a:t>
            </a:r>
          </a:p>
        </p:txBody>
      </p:sp>
      <p:sp>
        <p:nvSpPr>
          <p:cNvPr id="102" name="Text 13"/>
          <p:cNvSpPr/>
          <p:nvPr/>
        </p:nvSpPr>
        <p:spPr>
          <a:xfrm>
            <a:off x="9743400" y="4761720"/>
            <a:ext cx="3331800" cy="26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049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Recept </a:t>
            </a:r>
            <a:r>
              <a:rPr lang="en-US" sz="165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↔</a:t>
            </a:r>
            <a:r>
              <a:rPr lang="en-US" sz="16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Raktár összevetés</a:t>
            </a:r>
            <a:endParaRPr lang="hu-HU" sz="1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14"/>
          <p:cNvSpPr/>
          <p:nvPr/>
        </p:nvSpPr>
        <p:spPr>
          <a:xfrm>
            <a:off x="9743400" y="5106600"/>
            <a:ext cx="3868920" cy="25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95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D9E1FF"/>
                </a:solidFill>
                <a:latin typeface="Calibri Light"/>
                <a:ea typeface="arial"/>
              </a:rPr>
              <a:t>Külső API-ból lekért receptek alapján tervez</a:t>
            </a:r>
            <a:endParaRPr lang="hu-HU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Shape 15"/>
          <p:cNvSpPr/>
          <p:nvPr/>
        </p:nvSpPr>
        <p:spPr>
          <a:xfrm>
            <a:off x="837720" y="5923080"/>
            <a:ext cx="6409440" cy="1627200"/>
          </a:xfrm>
          <a:prstGeom prst="roundRect">
            <a:avLst>
              <a:gd name="adj" fmla="val 1654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hu-HU" sz="1800" b="0" strike="noStrike" spc="-1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05" name="Shape 16"/>
          <p:cNvSpPr/>
          <p:nvPr/>
        </p:nvSpPr>
        <p:spPr>
          <a:xfrm>
            <a:off x="1017000" y="6102720"/>
            <a:ext cx="537840" cy="537840"/>
          </a:xfrm>
          <a:prstGeom prst="roundRect">
            <a:avLst>
              <a:gd name="adj" fmla="val 16978173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2" name="EmojiIcon"/>
          <p:cNvSpPr/>
          <p:nvPr/>
        </p:nvSpPr>
        <p:spPr>
          <a:xfrm>
            <a:off x="1106100" y="619146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👨‍👩‍👧</a:t>
            </a:r>
          </a:p>
        </p:txBody>
      </p:sp>
      <p:sp>
        <p:nvSpPr>
          <p:cNvPr id="107" name="Text 17"/>
          <p:cNvSpPr/>
          <p:nvPr/>
        </p:nvSpPr>
        <p:spPr>
          <a:xfrm>
            <a:off x="1017000" y="6775560"/>
            <a:ext cx="2111400" cy="26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049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Háztartás kezelés</a:t>
            </a:r>
            <a:endParaRPr lang="hu-HU" sz="1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Text 18"/>
          <p:cNvSpPr/>
          <p:nvPr/>
        </p:nvSpPr>
        <p:spPr>
          <a:xfrm>
            <a:off x="1017000" y="7120440"/>
            <a:ext cx="6050520" cy="25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95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D9E1FF"/>
                </a:solidFill>
                <a:latin typeface="Calibri Light"/>
                <a:ea typeface="arial"/>
              </a:rPr>
              <a:t>Tagok meghívása, szerepkörök és jogosultságok kezelése</a:t>
            </a:r>
            <a:endParaRPr lang="hu-HU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Shape 19"/>
          <p:cNvSpPr/>
          <p:nvPr/>
        </p:nvSpPr>
        <p:spPr>
          <a:xfrm>
            <a:off x="7382520" y="5923080"/>
            <a:ext cx="6409440" cy="1627200"/>
          </a:xfrm>
          <a:prstGeom prst="roundRect">
            <a:avLst>
              <a:gd name="adj" fmla="val 1654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Shape 20"/>
          <p:cNvSpPr/>
          <p:nvPr/>
        </p:nvSpPr>
        <p:spPr>
          <a:xfrm>
            <a:off x="7561800" y="6102720"/>
            <a:ext cx="537840" cy="537840"/>
          </a:xfrm>
          <a:prstGeom prst="roundRect">
            <a:avLst>
              <a:gd name="adj" fmla="val 16978173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0" name="EmojiIcon"/>
          <p:cNvSpPr/>
          <p:nvPr/>
        </p:nvSpPr>
        <p:spPr>
          <a:xfrm>
            <a:off x="7650900" y="619146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🔔</a:t>
            </a:r>
          </a:p>
        </p:txBody>
      </p:sp>
      <p:sp>
        <p:nvSpPr>
          <p:cNvPr id="112" name="Text 21"/>
          <p:cNvSpPr/>
          <p:nvPr/>
        </p:nvSpPr>
        <p:spPr>
          <a:xfrm>
            <a:off x="7561800" y="6775560"/>
            <a:ext cx="2745720" cy="26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049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Üzenetek és értesítések</a:t>
            </a:r>
            <a:endParaRPr lang="hu-HU" sz="1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22"/>
          <p:cNvSpPr/>
          <p:nvPr/>
        </p:nvSpPr>
        <p:spPr>
          <a:xfrm>
            <a:off x="7561800" y="7120440"/>
            <a:ext cx="6050520" cy="25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95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D9E1FF"/>
                </a:solidFill>
                <a:latin typeface="Calibri Light"/>
                <a:ea typeface="arial"/>
              </a:rPr>
              <a:t>Háztartáson belüli kommunikáció és automatikus riasztások</a:t>
            </a:r>
            <a:endParaRPr lang="hu-HU" sz="14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4" name="Picture 30"/>
          <p:cNvPicPr/>
          <p:nvPr/>
        </p:nvPicPr>
        <p:blipFill>
          <a:blip r:embed="rId3"/>
          <a:stretch/>
        </p:blipFill>
        <p:spPr>
          <a:xfrm>
            <a:off x="12689640" y="7778520"/>
            <a:ext cx="1828440" cy="332640"/>
          </a:xfrm>
          <a:prstGeom prst="rect">
            <a:avLst/>
          </a:prstGeom>
          <a:ln w="0">
            <a:noFill/>
          </a:ln>
        </p:spPr>
      </p:pic>
      <p:pic>
        <p:nvPicPr>
          <p:cNvPr id="115" name="Picture 32"/>
          <p:cNvPicPr/>
          <p:nvPr/>
        </p:nvPicPr>
        <p:blipFill>
          <a:blip r:embed="rId4"/>
          <a:stretch/>
        </p:blipFill>
        <p:spPr>
          <a:xfrm>
            <a:off x="9743400" y="109440"/>
            <a:ext cx="4107960" cy="36198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0"/>
          <p:cNvSpPr/>
          <p:nvPr/>
        </p:nvSpPr>
        <p:spPr>
          <a:xfrm>
            <a:off x="837720" y="3759120"/>
            <a:ext cx="177552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1"/>
          <p:cNvSpPr/>
          <p:nvPr/>
        </p:nvSpPr>
        <p:spPr>
          <a:xfrm>
            <a:off x="981360" y="3830760"/>
            <a:ext cx="148860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ARCHITEKTÚRA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2"/>
          <p:cNvSpPr/>
          <p:nvPr/>
        </p:nvSpPr>
        <p:spPr>
          <a:xfrm>
            <a:off x="837720" y="4304520"/>
            <a:ext cx="450504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 dirty="0" err="1">
                <a:solidFill>
                  <a:srgbClr val="FFFFFF"/>
                </a:solidFill>
                <a:latin typeface="Calibri Light"/>
                <a:ea typeface="Syne Bold"/>
              </a:rPr>
              <a:t>Technológi</a:t>
            </a:r>
            <a:r>
              <a:rPr lang="hu-HU" sz="3500" b="1" spc="-1" dirty="0">
                <a:solidFill>
                  <a:srgbClr val="FFFFFF"/>
                </a:solidFill>
                <a:latin typeface="Calibri Light"/>
                <a:ea typeface="Syne Bold"/>
              </a:rPr>
              <a:t>a</a:t>
            </a:r>
            <a:endParaRPr lang="hu-HU" sz="35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16" name="EmojiIcon"/>
          <p:cNvSpPr/>
          <p:nvPr/>
        </p:nvSpPr>
        <p:spPr>
          <a:xfrm>
            <a:off x="837720" y="5226840"/>
            <a:ext cx="597600" cy="597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⚙️</a:t>
            </a:r>
          </a:p>
        </p:txBody>
      </p:sp>
      <p:sp>
        <p:nvSpPr>
          <p:cNvPr id="120" name="Text 3"/>
          <p:cNvSpPr/>
          <p:nvPr/>
        </p:nvSpPr>
        <p:spPr>
          <a:xfrm>
            <a:off x="1735200" y="522684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Backend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 4"/>
          <p:cNvSpPr/>
          <p:nvPr/>
        </p:nvSpPr>
        <p:spPr>
          <a:xfrm>
            <a:off x="1735200" y="5722560"/>
            <a:ext cx="5429520" cy="38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1" strike="noStrike" spc="-1">
                <a:solidFill>
                  <a:srgbClr val="D9E1FF"/>
                </a:solidFill>
                <a:latin typeface="Calibri Light"/>
                <a:ea typeface="arial"/>
              </a:rPr>
              <a:t>Laravel 12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 + PHP 8.2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08" name="EmojiIcon"/>
          <p:cNvSpPr/>
          <p:nvPr/>
        </p:nvSpPr>
        <p:spPr>
          <a:xfrm>
            <a:off x="7464600" y="5226840"/>
            <a:ext cx="597600" cy="597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🎨</a:t>
            </a:r>
          </a:p>
        </p:txBody>
      </p:sp>
      <p:sp>
        <p:nvSpPr>
          <p:cNvPr id="123" name="Text 5"/>
          <p:cNvSpPr/>
          <p:nvPr/>
        </p:nvSpPr>
        <p:spPr>
          <a:xfrm>
            <a:off x="8362440" y="522684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Frontend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6"/>
          <p:cNvSpPr/>
          <p:nvPr/>
        </p:nvSpPr>
        <p:spPr>
          <a:xfrm>
            <a:off x="8362440" y="5722560"/>
            <a:ext cx="5429520" cy="38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Blade + </a:t>
            </a:r>
            <a:r>
              <a:rPr lang="en-US" sz="1850" b="0" strike="noStrike" spc="-1" dirty="0" err="1">
                <a:solidFill>
                  <a:srgbClr val="D9E1FF"/>
                </a:solidFill>
                <a:latin typeface="Calibri Light"/>
                <a:ea typeface="arial"/>
              </a:rPr>
              <a:t>Vite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 + 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CSS</a:t>
            </a:r>
            <a:endParaRPr lang="hu-HU" sz="185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60" name="EmojiIcon"/>
          <p:cNvSpPr/>
          <p:nvPr/>
        </p:nvSpPr>
        <p:spPr>
          <a:xfrm>
            <a:off x="837720" y="6584040"/>
            <a:ext cx="597600" cy="597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🗄️</a:t>
            </a:r>
          </a:p>
        </p:txBody>
      </p:sp>
      <p:sp>
        <p:nvSpPr>
          <p:cNvPr id="126" name="Text 7"/>
          <p:cNvSpPr/>
          <p:nvPr/>
        </p:nvSpPr>
        <p:spPr>
          <a:xfrm>
            <a:off x="1735200" y="658404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Adatbázis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8"/>
          <p:cNvSpPr/>
          <p:nvPr/>
        </p:nvSpPr>
        <p:spPr>
          <a:xfrm>
            <a:off x="1735200" y="7079760"/>
            <a:ext cx="5429520" cy="38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MySQL – strukturált, relációs adatmodell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32" name="EmojiIcon"/>
          <p:cNvSpPr/>
          <p:nvPr/>
        </p:nvSpPr>
        <p:spPr>
          <a:xfrm>
            <a:off x="7464600" y="6584040"/>
            <a:ext cx="597600" cy="597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🌐</a:t>
            </a:r>
          </a:p>
        </p:txBody>
      </p:sp>
      <p:sp>
        <p:nvSpPr>
          <p:cNvPr id="129" name="Text 9"/>
          <p:cNvSpPr/>
          <p:nvPr/>
        </p:nvSpPr>
        <p:spPr>
          <a:xfrm>
            <a:off x="8362440" y="658404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Külső API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10"/>
          <p:cNvSpPr/>
          <p:nvPr/>
        </p:nvSpPr>
        <p:spPr>
          <a:xfrm>
            <a:off x="8362440" y="7079760"/>
            <a:ext cx="5429520" cy="38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Recept adatok lekérése és fordítása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1" name="Picture 17"/>
          <p:cNvPicPr/>
          <p:nvPr/>
        </p:nvPicPr>
        <p:blipFill>
          <a:blip r:embed="rId3"/>
          <a:stretch/>
        </p:blipFill>
        <p:spPr>
          <a:xfrm>
            <a:off x="12689640" y="7778520"/>
            <a:ext cx="1828440" cy="332640"/>
          </a:xfrm>
          <a:prstGeom prst="rect">
            <a:avLst/>
          </a:prstGeom>
          <a:ln w="0">
            <a:noFill/>
          </a:ln>
        </p:spPr>
      </p:pic>
      <p:pic>
        <p:nvPicPr>
          <p:cNvPr id="132" name="Picture 19"/>
          <p:cNvPicPr/>
          <p:nvPr/>
        </p:nvPicPr>
        <p:blipFill>
          <a:blip r:embed="rId4"/>
          <a:stretch/>
        </p:blipFill>
        <p:spPr>
          <a:xfrm>
            <a:off x="12375360" y="337680"/>
            <a:ext cx="1716480" cy="55983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837720" y="1628640"/>
            <a:ext cx="133596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981360" y="1700280"/>
            <a:ext cx="104904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ADATBÁZIS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837720" y="2174040"/>
            <a:ext cx="560628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Főbb adatbázis táblák</a:t>
            </a:r>
            <a:endParaRPr lang="hu-HU" sz="3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hape 3"/>
          <p:cNvSpPr/>
          <p:nvPr/>
        </p:nvSpPr>
        <p:spPr>
          <a:xfrm>
            <a:off x="837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hu-HU" sz="1800" b="0" strike="noStrike" spc="-1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80712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5"/>
          <p:cNvSpPr/>
          <p:nvPr/>
        </p:nvSpPr>
        <p:spPr>
          <a:xfrm>
            <a:off x="1198800" y="3366360"/>
            <a:ext cx="437724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👥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Felhasználók &amp; Háztartás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6"/>
          <p:cNvSpPr/>
          <p:nvPr/>
        </p:nvSpPr>
        <p:spPr>
          <a:xfrm>
            <a:off x="1198800" y="3861720"/>
            <a:ext cx="5726160" cy="79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users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households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household_members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household_invites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7434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8"/>
          <p:cNvSpPr/>
          <p:nvPr/>
        </p:nvSpPr>
        <p:spPr>
          <a:xfrm>
            <a:off x="740448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7796160" y="3366360"/>
            <a:ext cx="358632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🛒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Készlet &amp; Bevásárlás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0"/>
          <p:cNvSpPr/>
          <p:nvPr/>
        </p:nvSpPr>
        <p:spPr>
          <a:xfrm>
            <a:off x="7796160" y="386172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inventory_items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shopping_list_items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Shape 11"/>
          <p:cNvSpPr/>
          <p:nvPr/>
        </p:nvSpPr>
        <p:spPr>
          <a:xfrm>
            <a:off x="807120" y="5095800"/>
            <a:ext cx="650736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Shape 12"/>
          <p:cNvSpPr/>
          <p:nvPr/>
        </p:nvSpPr>
        <p:spPr>
          <a:xfrm>
            <a:off x="807120" y="516744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13"/>
          <p:cNvSpPr/>
          <p:nvPr/>
        </p:nvSpPr>
        <p:spPr>
          <a:xfrm>
            <a:off x="119880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🍳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Receptek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4"/>
          <p:cNvSpPr/>
          <p:nvPr/>
        </p:nvSpPr>
        <p:spPr>
          <a:xfrm>
            <a:off x="1303200" y="5909400"/>
            <a:ext cx="57261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recipes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recipe_ingredients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api_recipe_translations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translations_cache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15"/>
          <p:cNvSpPr/>
          <p:nvPr/>
        </p:nvSpPr>
        <p:spPr>
          <a:xfrm>
            <a:off x="7434720" y="5167440"/>
            <a:ext cx="635724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6"/>
          <p:cNvSpPr/>
          <p:nvPr/>
        </p:nvSpPr>
        <p:spPr>
          <a:xfrm>
            <a:off x="7404480" y="5167440"/>
            <a:ext cx="121320" cy="143280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7"/>
          <p:cNvSpPr/>
          <p:nvPr/>
        </p:nvSpPr>
        <p:spPr>
          <a:xfrm>
            <a:off x="779616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💬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Üzenetek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18"/>
          <p:cNvSpPr/>
          <p:nvPr/>
        </p:nvSpPr>
        <p:spPr>
          <a:xfrm>
            <a:off x="7796160" y="593280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messages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 – háztartáson belüli értesítések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837720" y="1628640"/>
            <a:ext cx="133596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981360" y="1700280"/>
            <a:ext cx="104904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BACKEND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837720" y="2174040"/>
            <a:ext cx="560628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 dirty="0">
                <a:solidFill>
                  <a:srgbClr val="FFFFFF"/>
                </a:solidFill>
                <a:latin typeface="Calibri Light"/>
                <a:ea typeface="Syne Bold"/>
              </a:rPr>
              <a:t>Backend </a:t>
            </a:r>
            <a:r>
              <a:rPr lang="en-US" sz="3500" b="1" strike="noStrike" spc="-1" dirty="0" err="1">
                <a:solidFill>
                  <a:srgbClr val="FFFFFF"/>
                </a:solidFill>
                <a:latin typeface="Calibri Light"/>
                <a:ea typeface="Syne Bold"/>
              </a:rPr>
              <a:t>technológia</a:t>
            </a:r>
            <a:endParaRPr lang="hu-HU" sz="35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hape 3"/>
          <p:cNvSpPr/>
          <p:nvPr/>
        </p:nvSpPr>
        <p:spPr>
          <a:xfrm>
            <a:off x="837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hu-HU" sz="1800" b="0" strike="noStrike" spc="-1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80712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5"/>
          <p:cNvSpPr/>
          <p:nvPr/>
        </p:nvSpPr>
        <p:spPr>
          <a:xfrm>
            <a:off x="1198800" y="3366360"/>
            <a:ext cx="437724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⚙️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Keretrendszer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6"/>
          <p:cNvSpPr/>
          <p:nvPr/>
        </p:nvSpPr>
        <p:spPr>
          <a:xfrm>
            <a:off x="1198800" y="3861720"/>
            <a:ext cx="5726160" cy="79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 dirty="0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Laravel 12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 dirty="0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PHP 8.2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 dirty="0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Composer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 dirty="0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Artisan CLI</a:t>
            </a:r>
            <a:endParaRPr lang="hu-HU" sz="185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7434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8"/>
          <p:cNvSpPr/>
          <p:nvPr/>
        </p:nvSpPr>
        <p:spPr>
          <a:xfrm>
            <a:off x="740448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7796160" y="3366360"/>
            <a:ext cx="358632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🛣️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Routing &amp; Auth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0"/>
          <p:cNvSpPr/>
          <p:nvPr/>
        </p:nvSpPr>
        <p:spPr>
          <a:xfrm>
            <a:off x="7796160" y="386172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routes/web.php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AuthController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Shape 11"/>
          <p:cNvSpPr/>
          <p:nvPr/>
        </p:nvSpPr>
        <p:spPr>
          <a:xfrm>
            <a:off x="807120" y="5095800"/>
            <a:ext cx="650736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Shape 12"/>
          <p:cNvSpPr/>
          <p:nvPr/>
        </p:nvSpPr>
        <p:spPr>
          <a:xfrm>
            <a:off x="807120" y="516744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13"/>
          <p:cNvSpPr/>
          <p:nvPr/>
        </p:nvSpPr>
        <p:spPr>
          <a:xfrm>
            <a:off x="119880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🎮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Vezérlők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4"/>
          <p:cNvSpPr/>
          <p:nvPr/>
        </p:nvSpPr>
        <p:spPr>
          <a:xfrm>
            <a:off x="1303200" y="5909400"/>
            <a:ext cx="57261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 dirty="0" err="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HouseholdController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 dirty="0" err="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InventoryController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</a:t>
            </a:r>
            <a:endParaRPr lang="hu-HU" sz="1850" b="0" strike="noStrike" spc="-1" dirty="0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 dirty="0" err="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RecipeController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 dirty="0" err="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MessageController</a:t>
            </a:r>
            <a:endParaRPr lang="hu-HU" sz="185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15"/>
          <p:cNvSpPr/>
          <p:nvPr/>
        </p:nvSpPr>
        <p:spPr>
          <a:xfrm>
            <a:off x="7434720" y="5167440"/>
            <a:ext cx="635724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6"/>
          <p:cNvSpPr/>
          <p:nvPr/>
        </p:nvSpPr>
        <p:spPr>
          <a:xfrm>
            <a:off x="7404480" y="5167440"/>
            <a:ext cx="121320" cy="143280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7"/>
          <p:cNvSpPr/>
          <p:nvPr/>
        </p:nvSpPr>
        <p:spPr>
          <a:xfrm>
            <a:off x="779616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📧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Mail &amp; Queue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18"/>
          <p:cNvSpPr/>
          <p:nvPr/>
        </p:nvSpPr>
        <p:spPr>
          <a:xfrm>
            <a:off x="7796160" y="593280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 dirty="0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Mail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 – e-mail </a:t>
            </a:r>
            <a:r>
              <a:rPr lang="en-US" sz="1850" b="0" strike="noStrike" spc="-1" dirty="0" err="1">
                <a:solidFill>
                  <a:srgbClr val="D9E1FF"/>
                </a:solidFill>
                <a:latin typeface="Calibri Light"/>
                <a:ea typeface="arial"/>
              </a:rPr>
              <a:t>értesítések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 dirty="0" err="1">
                <a:solidFill>
                  <a:srgbClr val="D9E1FF"/>
                </a:solidFill>
                <a:latin typeface="Calibri Light"/>
                <a:ea typeface="arial"/>
              </a:rPr>
              <a:t>aszinkron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 </a:t>
            </a:r>
            <a:r>
              <a:rPr lang="en-US" sz="1850" b="0" strike="noStrike" spc="-1" dirty="0" err="1">
                <a:solidFill>
                  <a:srgbClr val="D9E1FF"/>
                </a:solidFill>
                <a:latin typeface="Calibri Light"/>
                <a:ea typeface="arial"/>
              </a:rPr>
              <a:t>feldolgozás</a:t>
            </a:r>
            <a:endParaRPr lang="hu-HU" sz="1850" b="0" strike="noStrike" spc="-1" dirty="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837720" y="1628640"/>
            <a:ext cx="133596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981360" y="1700280"/>
            <a:ext cx="104904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FRONTEND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837720" y="2174040"/>
            <a:ext cx="560628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 dirty="0">
                <a:solidFill>
                  <a:srgbClr val="FFFFFF"/>
                </a:solidFill>
                <a:latin typeface="Calibri Light"/>
                <a:ea typeface="Syne Bold"/>
              </a:rPr>
              <a:t>Frontend </a:t>
            </a:r>
            <a:r>
              <a:rPr lang="en-US" sz="3500" b="1" strike="noStrike" spc="-1" dirty="0" err="1">
                <a:solidFill>
                  <a:srgbClr val="FFFFFF"/>
                </a:solidFill>
                <a:latin typeface="Calibri Light"/>
                <a:ea typeface="Syne Bold"/>
              </a:rPr>
              <a:t>technológia</a:t>
            </a:r>
            <a:endParaRPr lang="hu-HU" sz="35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hape 3"/>
          <p:cNvSpPr/>
          <p:nvPr/>
        </p:nvSpPr>
        <p:spPr>
          <a:xfrm>
            <a:off x="837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hu-HU" sz="1800" b="0" strike="noStrike" spc="-1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80712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5"/>
          <p:cNvSpPr/>
          <p:nvPr/>
        </p:nvSpPr>
        <p:spPr>
          <a:xfrm>
            <a:off x="1198800" y="3366360"/>
            <a:ext cx="437724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🎨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Sablonok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6"/>
          <p:cNvSpPr/>
          <p:nvPr/>
        </p:nvSpPr>
        <p:spPr>
          <a:xfrm>
            <a:off x="1198800" y="3861720"/>
            <a:ext cx="5726160" cy="79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Blade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@extends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@yield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layouts/app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7434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8"/>
          <p:cNvSpPr/>
          <p:nvPr/>
        </p:nvSpPr>
        <p:spPr>
          <a:xfrm>
            <a:off x="740448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7796160" y="3366360"/>
            <a:ext cx="358632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⚡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Build eszköz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0"/>
          <p:cNvSpPr/>
          <p:nvPr/>
        </p:nvSpPr>
        <p:spPr>
          <a:xfrm>
            <a:off x="7796160" y="386172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Vite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npm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Shape 11"/>
          <p:cNvSpPr/>
          <p:nvPr/>
        </p:nvSpPr>
        <p:spPr>
          <a:xfrm>
            <a:off x="807120" y="5095800"/>
            <a:ext cx="650736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Shape 12"/>
          <p:cNvSpPr/>
          <p:nvPr/>
        </p:nvSpPr>
        <p:spPr>
          <a:xfrm>
            <a:off x="807120" y="516744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13"/>
          <p:cNvSpPr/>
          <p:nvPr/>
        </p:nvSpPr>
        <p:spPr>
          <a:xfrm>
            <a:off x="119880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💎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Stílus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4"/>
          <p:cNvSpPr/>
          <p:nvPr/>
        </p:nvSpPr>
        <p:spPr>
          <a:xfrm>
            <a:off x="1303200" y="5909400"/>
            <a:ext cx="57261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Tailwind v4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app.css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@import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@theme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15"/>
          <p:cNvSpPr/>
          <p:nvPr/>
        </p:nvSpPr>
        <p:spPr>
          <a:xfrm>
            <a:off x="7434720" y="5167440"/>
            <a:ext cx="635724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6"/>
          <p:cNvSpPr/>
          <p:nvPr/>
        </p:nvSpPr>
        <p:spPr>
          <a:xfrm>
            <a:off x="7404480" y="5167440"/>
            <a:ext cx="121320" cy="143280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7"/>
          <p:cNvSpPr/>
          <p:nvPr/>
        </p:nvSpPr>
        <p:spPr>
          <a:xfrm>
            <a:off x="779616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🖼️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Egyedi CSS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18"/>
          <p:cNvSpPr/>
          <p:nvPr/>
        </p:nvSpPr>
        <p:spPr>
          <a:xfrm>
            <a:off x="7796160" y="593280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style.css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 – sötét téma, kártya komponensek, animációk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837720" y="1628640"/>
            <a:ext cx="133596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981360" y="1700280"/>
            <a:ext cx="104904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RESZPONZIVITÁS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837720" y="2174040"/>
            <a:ext cx="560628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Reszponzív design</a:t>
            </a:r>
            <a:endParaRPr lang="hu-HU" sz="3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hape 3"/>
          <p:cNvSpPr/>
          <p:nvPr/>
        </p:nvSpPr>
        <p:spPr>
          <a:xfrm>
            <a:off x="837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hu-HU" sz="1800" b="0" strike="noStrike" spc="-1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80712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5"/>
          <p:cNvSpPr/>
          <p:nvPr/>
        </p:nvSpPr>
        <p:spPr>
          <a:xfrm>
            <a:off x="1198800" y="3366360"/>
            <a:ext cx="437724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🖥️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Asztali nézet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6"/>
          <p:cNvSpPr/>
          <p:nvPr/>
        </p:nvSpPr>
        <p:spPr>
          <a:xfrm>
            <a:off x="1198800" y="3861720"/>
            <a:ext cx="5726160" cy="79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&gt;980px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3-oszlopos rács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teljes navigáció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fix oldalsáv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7434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8"/>
          <p:cNvSpPr/>
          <p:nvPr/>
        </p:nvSpPr>
        <p:spPr>
          <a:xfrm>
            <a:off x="740448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7796160" y="3366360"/>
            <a:ext cx="358632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💻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Tablet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0"/>
          <p:cNvSpPr/>
          <p:nvPr/>
        </p:nvSpPr>
        <p:spPr>
          <a:xfrm>
            <a:off x="7796160" y="386172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700–980px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kompakt menü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Shape 11"/>
          <p:cNvSpPr/>
          <p:nvPr/>
        </p:nvSpPr>
        <p:spPr>
          <a:xfrm>
            <a:off x="807120" y="5095800"/>
            <a:ext cx="650736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Shape 12"/>
          <p:cNvSpPr/>
          <p:nvPr/>
        </p:nvSpPr>
        <p:spPr>
          <a:xfrm>
            <a:off x="807120" y="516744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13"/>
          <p:cNvSpPr/>
          <p:nvPr/>
        </p:nvSpPr>
        <p:spPr>
          <a:xfrm>
            <a:off x="119880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📱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Mobil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4"/>
          <p:cNvSpPr/>
          <p:nvPr/>
        </p:nvSpPr>
        <p:spPr>
          <a:xfrm>
            <a:off x="1303200" y="5909400"/>
            <a:ext cx="57261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&lt;760px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1-oszlop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kártya nézet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hamburger menü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15"/>
          <p:cNvSpPr/>
          <p:nvPr/>
        </p:nvSpPr>
        <p:spPr>
          <a:xfrm>
            <a:off x="7434720" y="5167440"/>
            <a:ext cx="635724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6"/>
          <p:cNvSpPr/>
          <p:nvPr/>
        </p:nvSpPr>
        <p:spPr>
          <a:xfrm>
            <a:off x="7404480" y="5167440"/>
            <a:ext cx="121320" cy="143280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7"/>
          <p:cNvSpPr/>
          <p:nvPr/>
        </p:nvSpPr>
        <p:spPr>
          <a:xfrm>
            <a:off x="779616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🖨️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Nyomtatás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18"/>
          <p:cNvSpPr/>
          <p:nvPr/>
        </p:nvSpPr>
        <p:spPr>
          <a:xfrm>
            <a:off x="7796160" y="593280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@media print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 – tiszta, nyomtatható bevásárlólista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hape 0"/>
          <p:cNvSpPr/>
          <p:nvPr/>
        </p:nvSpPr>
        <p:spPr>
          <a:xfrm>
            <a:off x="811800" y="2160000"/>
            <a:ext cx="1347840" cy="672120"/>
          </a:xfrm>
          <a:prstGeom prst="roundRect">
            <a:avLst>
              <a:gd name="adj" fmla="val 7311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902160" y="2340000"/>
            <a:ext cx="1257480" cy="447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D9E1FF"/>
                </a:solidFill>
                <a:latin typeface="Calibri Light"/>
                <a:ea typeface="arial"/>
              </a:rPr>
              <a:t>FŐBB MODULOK</a:t>
            </a:r>
            <a:endParaRPr lang="hu-HU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 2"/>
          <p:cNvSpPr/>
          <p:nvPr/>
        </p:nvSpPr>
        <p:spPr>
          <a:xfrm>
            <a:off x="811800" y="2871000"/>
            <a:ext cx="3215880" cy="353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Üzenetek működése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Shape 3"/>
          <p:cNvSpPr/>
          <p:nvPr/>
        </p:nvSpPr>
        <p:spPr>
          <a:xfrm>
            <a:off x="811800" y="33678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Shape 4"/>
          <p:cNvSpPr/>
          <p:nvPr/>
        </p:nvSpPr>
        <p:spPr>
          <a:xfrm>
            <a:off x="962280" y="35186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4" name="EmojiIcon"/>
          <p:cNvSpPr/>
          <p:nvPr/>
        </p:nvSpPr>
        <p:spPr>
          <a:xfrm>
            <a:off x="1008180" y="35641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✉️</a:t>
            </a:r>
          </a:p>
        </p:txBody>
      </p:sp>
      <p:sp>
        <p:nvSpPr>
          <p:cNvPr id="159" name="Text 5"/>
          <p:cNvSpPr/>
          <p:nvPr/>
        </p:nvSpPr>
        <p:spPr>
          <a:xfrm>
            <a:off x="962280" y="4065480"/>
            <a:ext cx="202032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Háztartási meghívók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962280" y="43441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Tagok meghívása, elfogadás/elutasítás kezelése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hape 7"/>
          <p:cNvSpPr/>
          <p:nvPr/>
        </p:nvSpPr>
        <p:spPr>
          <a:xfrm>
            <a:off x="5178960" y="33678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Shape 8"/>
          <p:cNvSpPr/>
          <p:nvPr/>
        </p:nvSpPr>
        <p:spPr>
          <a:xfrm>
            <a:off x="5329800" y="35186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2" name="EmojiIcon"/>
          <p:cNvSpPr/>
          <p:nvPr/>
        </p:nvSpPr>
        <p:spPr>
          <a:xfrm>
            <a:off x="5375340" y="35641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🔔</a:t>
            </a:r>
          </a:p>
        </p:txBody>
      </p:sp>
      <p:sp>
        <p:nvSpPr>
          <p:cNvPr id="164" name="Text 9"/>
          <p:cNvSpPr/>
          <p:nvPr/>
        </p:nvSpPr>
        <p:spPr>
          <a:xfrm>
            <a:off x="5329800" y="4065480"/>
            <a:ext cx="235836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Automatikus értesítések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 10"/>
          <p:cNvSpPr/>
          <p:nvPr/>
        </p:nvSpPr>
        <p:spPr>
          <a:xfrm>
            <a:off x="5329800" y="43441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Lejárat, bevásárlás, recept előkészítés riasztásai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Shape 11"/>
          <p:cNvSpPr/>
          <p:nvPr/>
        </p:nvSpPr>
        <p:spPr>
          <a:xfrm>
            <a:off x="9546480" y="33678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Shape 12"/>
          <p:cNvSpPr/>
          <p:nvPr/>
        </p:nvSpPr>
        <p:spPr>
          <a:xfrm>
            <a:off x="9696960" y="35186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0" name="EmojiIcon"/>
          <p:cNvSpPr/>
          <p:nvPr/>
        </p:nvSpPr>
        <p:spPr>
          <a:xfrm>
            <a:off x="9742860" y="35641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✓</a:t>
            </a:r>
          </a:p>
        </p:txBody>
      </p:sp>
      <p:sp>
        <p:nvSpPr>
          <p:cNvPr id="169" name="Text 13"/>
          <p:cNvSpPr/>
          <p:nvPr/>
        </p:nvSpPr>
        <p:spPr>
          <a:xfrm>
            <a:off x="9696960" y="4065480"/>
            <a:ext cx="253728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Olvasott jelölés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14"/>
          <p:cNvSpPr/>
          <p:nvPr/>
        </p:nvSpPr>
        <p:spPr>
          <a:xfrm>
            <a:off x="9696960" y="43441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is_read mező — könnyű nyomon követni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Shape 15"/>
          <p:cNvSpPr/>
          <p:nvPr/>
        </p:nvSpPr>
        <p:spPr>
          <a:xfrm>
            <a:off x="811800" y="47862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Shape 16"/>
          <p:cNvSpPr/>
          <p:nvPr/>
        </p:nvSpPr>
        <p:spPr>
          <a:xfrm>
            <a:off x="962280" y="49370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8" name="EmojiIcon"/>
          <p:cNvSpPr/>
          <p:nvPr/>
        </p:nvSpPr>
        <p:spPr>
          <a:xfrm>
            <a:off x="1008180" y="49825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🗑️</a:t>
            </a:r>
          </a:p>
        </p:txBody>
      </p:sp>
      <p:sp>
        <p:nvSpPr>
          <p:cNvPr id="174" name="Text 17"/>
          <p:cNvSpPr/>
          <p:nvPr/>
        </p:nvSpPr>
        <p:spPr>
          <a:xfrm>
            <a:off x="962280" y="5483880"/>
            <a:ext cx="263484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Üzenet törlése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18"/>
          <p:cNvSpPr/>
          <p:nvPr/>
        </p:nvSpPr>
        <p:spPr>
          <a:xfrm>
            <a:off x="962280" y="57625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Háztartás tagok törölhetik az üzeneteket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Shape 19"/>
          <p:cNvSpPr/>
          <p:nvPr/>
        </p:nvSpPr>
        <p:spPr>
          <a:xfrm>
            <a:off x="5178960" y="47862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Shape 20"/>
          <p:cNvSpPr/>
          <p:nvPr/>
        </p:nvSpPr>
        <p:spPr>
          <a:xfrm>
            <a:off x="5329800" y="49370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2" name="EmojiIcon"/>
          <p:cNvSpPr/>
          <p:nvPr/>
        </p:nvSpPr>
        <p:spPr>
          <a:xfrm>
            <a:off x="5375340" y="49825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⚡</a:t>
            </a:r>
          </a:p>
        </p:txBody>
      </p:sp>
      <p:sp>
        <p:nvSpPr>
          <p:cNvPr id="179" name="Text 21"/>
          <p:cNvSpPr/>
          <p:nvPr/>
        </p:nvSpPr>
        <p:spPr>
          <a:xfrm>
            <a:off x="5329800" y="5483880"/>
            <a:ext cx="222264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Üzenet típusok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 22"/>
          <p:cNvSpPr/>
          <p:nvPr/>
        </p:nvSpPr>
        <p:spPr>
          <a:xfrm>
            <a:off x="5329800" y="57625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info, warning, ok, danger – színes megjelölés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Shape 23"/>
          <p:cNvSpPr/>
          <p:nvPr/>
        </p:nvSpPr>
        <p:spPr>
          <a:xfrm>
            <a:off x="9546480" y="47862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Shape 24"/>
          <p:cNvSpPr/>
          <p:nvPr/>
        </p:nvSpPr>
        <p:spPr>
          <a:xfrm>
            <a:off x="9696960" y="49370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2" name="EmojiIcon"/>
          <p:cNvSpPr/>
          <p:nvPr/>
        </p:nvSpPr>
        <p:spPr>
          <a:xfrm>
            <a:off x="9742860" y="49825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👁️</a:t>
            </a:r>
          </a:p>
        </p:txBody>
      </p:sp>
      <p:sp>
        <p:nvSpPr>
          <p:cNvPr id="184" name="Text 25"/>
          <p:cNvSpPr/>
          <p:nvPr/>
        </p:nvSpPr>
        <p:spPr>
          <a:xfrm>
            <a:off x="9696960" y="5483880"/>
            <a:ext cx="241848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Átlátható kommunikáció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26"/>
          <p:cNvSpPr/>
          <p:nvPr/>
        </p:nvSpPr>
        <p:spPr>
          <a:xfrm>
            <a:off x="9696960" y="57625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Mindenki ugyanazt látja, nincs félreértés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Shape 27"/>
          <p:cNvSpPr/>
          <p:nvPr/>
        </p:nvSpPr>
        <p:spPr>
          <a:xfrm>
            <a:off x="811800" y="6204600"/>
            <a:ext cx="1300644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Shape 28"/>
          <p:cNvSpPr/>
          <p:nvPr/>
        </p:nvSpPr>
        <p:spPr>
          <a:xfrm>
            <a:off x="962280" y="63554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4" name="EmojiIcon"/>
          <p:cNvSpPr/>
          <p:nvPr/>
        </p:nvSpPr>
        <p:spPr>
          <a:xfrm>
            <a:off x="1008180" y="64009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🤝</a:t>
            </a:r>
          </a:p>
        </p:txBody>
      </p:sp>
      <p:sp>
        <p:nvSpPr>
          <p:cNvPr id="189" name="Text 29"/>
          <p:cNvSpPr/>
          <p:nvPr/>
        </p:nvSpPr>
        <p:spPr>
          <a:xfrm>
            <a:off x="962280" y="6902280"/>
            <a:ext cx="177264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Gyors koordináció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 30"/>
          <p:cNvSpPr/>
          <p:nvPr/>
        </p:nvSpPr>
        <p:spPr>
          <a:xfrm>
            <a:off x="962280" y="7180920"/>
            <a:ext cx="1270476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Közös döntések és tervek egy helyen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1" name="Picture 40"/>
          <p:cNvPicPr/>
          <p:nvPr/>
        </p:nvPicPr>
        <p:blipFill>
          <a:blip r:embed="rId3"/>
          <a:stretch/>
        </p:blipFill>
        <p:spPr>
          <a:xfrm>
            <a:off x="12689640" y="7778520"/>
            <a:ext cx="1828440" cy="332640"/>
          </a:xfrm>
          <a:prstGeom prst="rect">
            <a:avLst/>
          </a:prstGeom>
          <a:ln w="0">
            <a:noFill/>
          </a:ln>
        </p:spPr>
      </p:pic>
      <p:pic>
        <p:nvPicPr>
          <p:cNvPr id="192" name="Picture 42"/>
          <p:cNvPicPr/>
          <p:nvPr/>
        </p:nvPicPr>
        <p:blipFill>
          <a:blip r:embed="rId4"/>
          <a:stretch/>
        </p:blipFill>
        <p:spPr>
          <a:xfrm>
            <a:off x="6756480" y="291240"/>
            <a:ext cx="7466760" cy="27565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0"/>
          <p:cNvSpPr/>
          <p:nvPr/>
        </p:nvSpPr>
        <p:spPr>
          <a:xfrm>
            <a:off x="811800" y="2340000"/>
            <a:ext cx="1527840" cy="492120"/>
          </a:xfrm>
          <a:prstGeom prst="roundRect">
            <a:avLst>
              <a:gd name="adj" fmla="val 7311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 1"/>
          <p:cNvSpPr/>
          <p:nvPr/>
        </p:nvSpPr>
        <p:spPr>
          <a:xfrm>
            <a:off x="902160" y="2520000"/>
            <a:ext cx="1257480" cy="15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D9E1FF"/>
                </a:solidFill>
                <a:latin typeface="Calibri Light"/>
                <a:ea typeface="arial"/>
              </a:rPr>
              <a:t>HÁZTARTÁS KEZELÉS</a:t>
            </a:r>
            <a:endParaRPr lang="hu-HU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2"/>
          <p:cNvSpPr/>
          <p:nvPr/>
        </p:nvSpPr>
        <p:spPr>
          <a:xfrm>
            <a:off x="811800" y="2871000"/>
            <a:ext cx="8247960" cy="353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Hogyan segít a Magic Fridge a háztartás kezelésben?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Shape 3"/>
          <p:cNvSpPr/>
          <p:nvPr/>
        </p:nvSpPr>
        <p:spPr>
          <a:xfrm>
            <a:off x="811800" y="33678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Shape 4"/>
          <p:cNvSpPr/>
          <p:nvPr/>
        </p:nvSpPr>
        <p:spPr>
          <a:xfrm>
            <a:off x="962280" y="35186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4" name="EmojiIcon"/>
          <p:cNvSpPr/>
          <p:nvPr/>
        </p:nvSpPr>
        <p:spPr>
          <a:xfrm>
            <a:off x="1008180" y="35641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🏠</a:t>
            </a:r>
          </a:p>
        </p:txBody>
      </p:sp>
      <p:sp>
        <p:nvSpPr>
          <p:cNvPr id="199" name="Text 5"/>
          <p:cNvSpPr/>
          <p:nvPr/>
        </p:nvSpPr>
        <p:spPr>
          <a:xfrm>
            <a:off x="962280" y="4065480"/>
            <a:ext cx="276516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Közös háztartás létrehozása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 6"/>
          <p:cNvSpPr/>
          <p:nvPr/>
        </p:nvSpPr>
        <p:spPr>
          <a:xfrm>
            <a:off x="962280" y="43441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household_invites táblán keresztül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Shape 7"/>
          <p:cNvSpPr/>
          <p:nvPr/>
        </p:nvSpPr>
        <p:spPr>
          <a:xfrm>
            <a:off x="5178960" y="33678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Shape 8"/>
          <p:cNvSpPr/>
          <p:nvPr/>
        </p:nvSpPr>
        <p:spPr>
          <a:xfrm>
            <a:off x="5329800" y="35186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2" name="EmojiIcon"/>
          <p:cNvSpPr/>
          <p:nvPr/>
        </p:nvSpPr>
        <p:spPr>
          <a:xfrm>
            <a:off x="5375340" y="35641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📦</a:t>
            </a:r>
          </a:p>
        </p:txBody>
      </p:sp>
      <p:sp>
        <p:nvSpPr>
          <p:cNvPr id="204" name="Text 9"/>
          <p:cNvSpPr/>
          <p:nvPr/>
        </p:nvSpPr>
        <p:spPr>
          <a:xfrm>
            <a:off x="5329800" y="4065480"/>
            <a:ext cx="191052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Raktár megosztása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 10"/>
          <p:cNvSpPr/>
          <p:nvPr/>
        </p:nvSpPr>
        <p:spPr>
          <a:xfrm>
            <a:off x="5329800" y="43441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inventory_items közös elérése a tagoknak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Shape 11"/>
          <p:cNvSpPr/>
          <p:nvPr/>
        </p:nvSpPr>
        <p:spPr>
          <a:xfrm>
            <a:off x="9546480" y="33678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Shape 12"/>
          <p:cNvSpPr/>
          <p:nvPr/>
        </p:nvSpPr>
        <p:spPr>
          <a:xfrm>
            <a:off x="9696960" y="35186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0" name="EmojiIcon"/>
          <p:cNvSpPr/>
          <p:nvPr/>
        </p:nvSpPr>
        <p:spPr>
          <a:xfrm>
            <a:off x="9742860" y="35641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🛒</a:t>
            </a:r>
          </a:p>
        </p:txBody>
      </p:sp>
      <p:sp>
        <p:nvSpPr>
          <p:cNvPr id="209" name="Text 13"/>
          <p:cNvSpPr/>
          <p:nvPr/>
        </p:nvSpPr>
        <p:spPr>
          <a:xfrm>
            <a:off x="9696960" y="4065480"/>
            <a:ext cx="198684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Közös bevásárlólista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14"/>
          <p:cNvSpPr/>
          <p:nvPr/>
        </p:nvSpPr>
        <p:spPr>
          <a:xfrm>
            <a:off x="9696960" y="43441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shopping_list_items közös szerkesztése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Shape 15"/>
          <p:cNvSpPr/>
          <p:nvPr/>
        </p:nvSpPr>
        <p:spPr>
          <a:xfrm>
            <a:off x="811800" y="47862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Shape 16"/>
          <p:cNvSpPr/>
          <p:nvPr/>
        </p:nvSpPr>
        <p:spPr>
          <a:xfrm>
            <a:off x="962280" y="49370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8" name="EmojiIcon"/>
          <p:cNvSpPr/>
          <p:nvPr/>
        </p:nvSpPr>
        <p:spPr>
          <a:xfrm>
            <a:off x="1008180" y="49825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🚫</a:t>
            </a:r>
          </a:p>
        </p:txBody>
      </p:sp>
      <p:sp>
        <p:nvSpPr>
          <p:cNvPr id="214" name="Text 17"/>
          <p:cNvSpPr/>
          <p:nvPr/>
        </p:nvSpPr>
        <p:spPr>
          <a:xfrm>
            <a:off x="962280" y="5483880"/>
            <a:ext cx="245952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Dupla vásárlás elkerülése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 18"/>
          <p:cNvSpPr/>
          <p:nvPr/>
        </p:nvSpPr>
        <p:spPr>
          <a:xfrm>
            <a:off x="962280" y="57625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Mindenki látja, hogy mit vásároltak már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Shape 19"/>
          <p:cNvSpPr/>
          <p:nvPr/>
        </p:nvSpPr>
        <p:spPr>
          <a:xfrm>
            <a:off x="5178960" y="47862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Shape 20"/>
          <p:cNvSpPr/>
          <p:nvPr/>
        </p:nvSpPr>
        <p:spPr>
          <a:xfrm>
            <a:off x="5329800" y="49370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2" name="EmojiIcon"/>
          <p:cNvSpPr/>
          <p:nvPr/>
        </p:nvSpPr>
        <p:spPr>
          <a:xfrm>
            <a:off x="5375340" y="49825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👁️</a:t>
            </a:r>
          </a:p>
        </p:txBody>
      </p:sp>
      <p:sp>
        <p:nvSpPr>
          <p:cNvPr id="219" name="Text 21"/>
          <p:cNvSpPr/>
          <p:nvPr/>
        </p:nvSpPr>
        <p:spPr>
          <a:xfrm>
            <a:off x="5329800" y="5483880"/>
            <a:ext cx="181044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Jobb átláthatóság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 22"/>
          <p:cNvSpPr/>
          <p:nvPr/>
        </p:nvSpPr>
        <p:spPr>
          <a:xfrm>
            <a:off x="5329800" y="57625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Aktív tagok és tevékenységük áttekintése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Shape 23"/>
          <p:cNvSpPr/>
          <p:nvPr/>
        </p:nvSpPr>
        <p:spPr>
          <a:xfrm>
            <a:off x="9546480" y="47862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Shape 24"/>
          <p:cNvSpPr/>
          <p:nvPr/>
        </p:nvSpPr>
        <p:spPr>
          <a:xfrm>
            <a:off x="9696960" y="49370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2" name="EmojiIcon"/>
          <p:cNvSpPr/>
          <p:nvPr/>
        </p:nvSpPr>
        <p:spPr>
          <a:xfrm>
            <a:off x="9742860" y="49825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🤝</a:t>
            </a:r>
          </a:p>
        </p:txBody>
      </p:sp>
      <p:sp>
        <p:nvSpPr>
          <p:cNvPr id="224" name="Text 25"/>
          <p:cNvSpPr/>
          <p:nvPr/>
        </p:nvSpPr>
        <p:spPr>
          <a:xfrm>
            <a:off x="9696960" y="5483880"/>
            <a:ext cx="291888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Hatékonyabb együttműködés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 26"/>
          <p:cNvSpPr/>
          <p:nvPr/>
        </p:nvSpPr>
        <p:spPr>
          <a:xfrm>
            <a:off x="9696960" y="57625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Egy felület, közös cél, gyors döntés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Shape 27"/>
          <p:cNvSpPr/>
          <p:nvPr/>
        </p:nvSpPr>
        <p:spPr>
          <a:xfrm>
            <a:off x="811800" y="6204600"/>
            <a:ext cx="1300644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Shape 28"/>
          <p:cNvSpPr/>
          <p:nvPr/>
        </p:nvSpPr>
        <p:spPr>
          <a:xfrm>
            <a:off x="962280" y="63554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4" name="EmojiIcon"/>
          <p:cNvSpPr/>
          <p:nvPr/>
        </p:nvSpPr>
        <p:spPr>
          <a:xfrm>
            <a:off x="1008180" y="64009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💰</a:t>
            </a:r>
          </a:p>
        </p:txBody>
      </p:sp>
      <p:sp>
        <p:nvSpPr>
          <p:cNvPr id="229" name="Text 29"/>
          <p:cNvSpPr/>
          <p:nvPr/>
        </p:nvSpPr>
        <p:spPr>
          <a:xfrm>
            <a:off x="962280" y="6902280"/>
            <a:ext cx="179316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Költségmegosztás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30"/>
          <p:cNvSpPr/>
          <p:nvPr/>
        </p:nvSpPr>
        <p:spPr>
          <a:xfrm>
            <a:off x="962280" y="7180920"/>
            <a:ext cx="1270476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Tisztán látható, ki mit hozott a háztartásba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1" name="Picture 40"/>
          <p:cNvPicPr/>
          <p:nvPr/>
        </p:nvPicPr>
        <p:blipFill>
          <a:blip r:embed="rId3"/>
          <a:stretch/>
        </p:blipFill>
        <p:spPr>
          <a:xfrm>
            <a:off x="12689640" y="7778520"/>
            <a:ext cx="1828440" cy="332640"/>
          </a:xfrm>
          <a:prstGeom prst="rect">
            <a:avLst/>
          </a:prstGeom>
          <a:ln w="0">
            <a:noFill/>
          </a:ln>
        </p:spPr>
      </p:pic>
      <p:pic>
        <p:nvPicPr>
          <p:cNvPr id="232" name="Picture 42"/>
          <p:cNvPicPr/>
          <p:nvPr/>
        </p:nvPicPr>
        <p:blipFill>
          <a:blip r:embed="rId4"/>
          <a:stretch/>
        </p:blipFill>
        <p:spPr>
          <a:xfrm>
            <a:off x="7833240" y="285120"/>
            <a:ext cx="6373440" cy="28839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0"/>
          <p:cNvSpPr/>
          <p:nvPr/>
        </p:nvSpPr>
        <p:spPr>
          <a:xfrm>
            <a:off x="774720" y="3701880"/>
            <a:ext cx="192492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 1"/>
          <p:cNvSpPr/>
          <p:nvPr/>
        </p:nvSpPr>
        <p:spPr>
          <a:xfrm>
            <a:off x="981360" y="3780000"/>
            <a:ext cx="163764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RAKTÁRKEZELÉS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 2"/>
          <p:cNvSpPr/>
          <p:nvPr/>
        </p:nvSpPr>
        <p:spPr>
          <a:xfrm>
            <a:off x="837720" y="4247640"/>
            <a:ext cx="636696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Raktár kezelés működése</a:t>
            </a:r>
            <a:endParaRPr lang="hu-HU" sz="3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 3"/>
          <p:cNvSpPr/>
          <p:nvPr/>
        </p:nvSpPr>
        <p:spPr>
          <a:xfrm>
            <a:off x="837720" y="5169960"/>
            <a:ext cx="478080" cy="29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Syne Light"/>
              </a:rPr>
              <a:t>01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Shape 4"/>
          <p:cNvSpPr/>
          <p:nvPr/>
        </p:nvSpPr>
        <p:spPr>
          <a:xfrm>
            <a:off x="837720" y="5546160"/>
            <a:ext cx="4158000" cy="29880"/>
          </a:xfrm>
          <a:prstGeom prst="rect">
            <a:avLst/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4400" rIns="90000" bIns="-144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 5"/>
          <p:cNvSpPr/>
          <p:nvPr/>
        </p:nvSpPr>
        <p:spPr>
          <a:xfrm>
            <a:off x="837720" y="5726880"/>
            <a:ext cx="316620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Termék hozzáadása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 6"/>
          <p:cNvSpPr/>
          <p:nvPr/>
        </p:nvSpPr>
        <p:spPr>
          <a:xfrm>
            <a:off x="837720" y="6222240"/>
            <a:ext cx="4158000" cy="76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Név, mennyiség, kategória, hely megadása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 7"/>
          <p:cNvSpPr/>
          <p:nvPr/>
        </p:nvSpPr>
        <p:spPr>
          <a:xfrm>
            <a:off x="5235840" y="5169960"/>
            <a:ext cx="478080" cy="29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Syne Light"/>
              </a:rPr>
              <a:t>02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Shape 8"/>
          <p:cNvSpPr/>
          <p:nvPr/>
        </p:nvSpPr>
        <p:spPr>
          <a:xfrm>
            <a:off x="5235840" y="5546160"/>
            <a:ext cx="4158000" cy="29880"/>
          </a:xfrm>
          <a:prstGeom prst="rect">
            <a:avLst/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4400" rIns="90000" bIns="-144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 9"/>
          <p:cNvSpPr/>
          <p:nvPr/>
        </p:nvSpPr>
        <p:spPr>
          <a:xfrm>
            <a:off x="5235840" y="5726880"/>
            <a:ext cx="319464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Lejárati idő rögzítése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Text 10"/>
          <p:cNvSpPr/>
          <p:nvPr/>
        </p:nvSpPr>
        <p:spPr>
          <a:xfrm>
            <a:off x="5235840" y="6222240"/>
            <a:ext cx="4158000" cy="76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Rendszer figyeli és riasztást küld időben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Text 11"/>
          <p:cNvSpPr/>
          <p:nvPr/>
        </p:nvSpPr>
        <p:spPr>
          <a:xfrm>
            <a:off x="9633960" y="5169960"/>
            <a:ext cx="478080" cy="29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Syne Light"/>
              </a:rPr>
              <a:t>03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Shape 12"/>
          <p:cNvSpPr/>
          <p:nvPr/>
        </p:nvSpPr>
        <p:spPr>
          <a:xfrm>
            <a:off x="9633960" y="5546160"/>
            <a:ext cx="4158000" cy="29880"/>
          </a:xfrm>
          <a:prstGeom prst="rect">
            <a:avLst/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4400" rIns="90000" bIns="-144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 13"/>
          <p:cNvSpPr/>
          <p:nvPr/>
        </p:nvSpPr>
        <p:spPr>
          <a:xfrm>
            <a:off x="9633960" y="5726880"/>
            <a:ext cx="4158000" cy="70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Automatikus figyelmeztetés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 14"/>
          <p:cNvSpPr/>
          <p:nvPr/>
        </p:nvSpPr>
        <p:spPr>
          <a:xfrm>
            <a:off x="9633960" y="6222240"/>
            <a:ext cx="4158000" cy="76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Lejárat előtt értesítés a háztartás tagjainak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9" name="Picture 19"/>
          <p:cNvPicPr/>
          <p:nvPr/>
        </p:nvPicPr>
        <p:blipFill>
          <a:blip r:embed="rId3"/>
          <a:stretch/>
        </p:blipFill>
        <p:spPr>
          <a:xfrm>
            <a:off x="8431200" y="848520"/>
            <a:ext cx="5373720" cy="4203720"/>
          </a:xfrm>
          <a:prstGeom prst="rect">
            <a:avLst/>
          </a:prstGeom>
          <a:ln w="0">
            <a:noFill/>
          </a:ln>
        </p:spPr>
      </p:pic>
      <p:pic>
        <p:nvPicPr>
          <p:cNvPr id="250" name="Picture 21"/>
          <p:cNvPicPr/>
          <p:nvPr/>
        </p:nvPicPr>
        <p:blipFill>
          <a:blip r:embed="rId4"/>
          <a:stretch/>
        </p:blipFill>
        <p:spPr>
          <a:xfrm>
            <a:off x="2027520" y="156600"/>
            <a:ext cx="5434560" cy="3221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798480" y="2523240"/>
            <a:ext cx="1116360" cy="241560"/>
          </a:xfrm>
          <a:prstGeom prst="roundRect">
            <a:avLst>
              <a:gd name="adj" fmla="val 7341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 1"/>
          <p:cNvSpPr/>
          <p:nvPr/>
        </p:nvSpPr>
        <p:spPr>
          <a:xfrm>
            <a:off x="887400" y="2567880"/>
            <a:ext cx="938520" cy="15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D9E1FF"/>
                </a:solidFill>
                <a:latin typeface="arial"/>
                <a:ea typeface="arial"/>
              </a:rPr>
              <a:t>RECEPT MODUL</a:t>
            </a:r>
            <a:endParaRPr lang="hu-HU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Text 2"/>
          <p:cNvSpPr/>
          <p:nvPr/>
        </p:nvSpPr>
        <p:spPr>
          <a:xfrm>
            <a:off x="798480" y="2802240"/>
            <a:ext cx="2890440" cy="34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01"/>
              </a:lnSpc>
              <a:tabLst>
                <a:tab pos="0" algn="l"/>
              </a:tabLst>
            </a:pPr>
            <a:r>
              <a:rPr lang="en-US" sz="215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Receptek kezelése</a:t>
            </a:r>
            <a:endParaRPr lang="hu-HU" sz="2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Shape 3"/>
          <p:cNvSpPr/>
          <p:nvPr/>
        </p:nvSpPr>
        <p:spPr>
          <a:xfrm>
            <a:off x="798480" y="3288960"/>
            <a:ext cx="4282560" cy="1489680"/>
          </a:xfrm>
          <a:prstGeom prst="roundRect">
            <a:avLst>
              <a:gd name="adj" fmla="val 1492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Shape 4"/>
          <p:cNvSpPr/>
          <p:nvPr/>
        </p:nvSpPr>
        <p:spPr>
          <a:xfrm>
            <a:off x="946800" y="343728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8" name="EmojiIcon"/>
          <p:cNvSpPr/>
          <p:nvPr/>
        </p:nvSpPr>
        <p:spPr>
          <a:xfrm>
            <a:off x="988920" y="34794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🍳</a:t>
            </a:r>
          </a:p>
        </p:txBody>
      </p:sp>
      <p:sp>
        <p:nvSpPr>
          <p:cNvPr id="257" name="Text 5"/>
          <p:cNvSpPr/>
          <p:nvPr/>
        </p:nvSpPr>
        <p:spPr>
          <a:xfrm>
            <a:off x="946800" y="3974040"/>
            <a:ext cx="202572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Saját és API receptek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Text 6"/>
          <p:cNvSpPr/>
          <p:nvPr/>
        </p:nvSpPr>
        <p:spPr>
          <a:xfrm>
            <a:off x="946800" y="4246920"/>
            <a:ext cx="39859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Saját receptek és TheMealDB API integrálása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Shape 7"/>
          <p:cNvSpPr/>
          <p:nvPr/>
        </p:nvSpPr>
        <p:spPr>
          <a:xfrm>
            <a:off x="5173560" y="3288960"/>
            <a:ext cx="4282560" cy="1489680"/>
          </a:xfrm>
          <a:prstGeom prst="roundRect">
            <a:avLst>
              <a:gd name="adj" fmla="val 1492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Shape 8"/>
          <p:cNvSpPr/>
          <p:nvPr/>
        </p:nvSpPr>
        <p:spPr>
          <a:xfrm>
            <a:off x="5321880" y="343728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0" name="EmojiIcon"/>
          <p:cNvSpPr/>
          <p:nvPr/>
        </p:nvSpPr>
        <p:spPr>
          <a:xfrm>
            <a:off x="5363640" y="34794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📝</a:t>
            </a:r>
          </a:p>
        </p:txBody>
      </p:sp>
      <p:sp>
        <p:nvSpPr>
          <p:cNvPr id="262" name="Text 9"/>
          <p:cNvSpPr/>
          <p:nvPr/>
        </p:nvSpPr>
        <p:spPr>
          <a:xfrm>
            <a:off x="5321880" y="3974040"/>
            <a:ext cx="254304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Recept leírás és utasítások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 10"/>
          <p:cNvSpPr/>
          <p:nvPr/>
        </p:nvSpPr>
        <p:spPr>
          <a:xfrm>
            <a:off x="5321880" y="424692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Részletes elkészítési lépések magyarul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Shape 11"/>
          <p:cNvSpPr/>
          <p:nvPr/>
        </p:nvSpPr>
        <p:spPr>
          <a:xfrm>
            <a:off x="9548640" y="3288960"/>
            <a:ext cx="4282560" cy="1489680"/>
          </a:xfrm>
          <a:prstGeom prst="roundRect">
            <a:avLst>
              <a:gd name="adj" fmla="val 1492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Shape 12"/>
          <p:cNvSpPr/>
          <p:nvPr/>
        </p:nvSpPr>
        <p:spPr>
          <a:xfrm>
            <a:off x="9696960" y="343728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8" name="EmojiIcon"/>
          <p:cNvSpPr/>
          <p:nvPr/>
        </p:nvSpPr>
        <p:spPr>
          <a:xfrm>
            <a:off x="9738720" y="34794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🥕</a:t>
            </a:r>
          </a:p>
        </p:txBody>
      </p:sp>
      <p:sp>
        <p:nvSpPr>
          <p:cNvPr id="267" name="Text 13"/>
          <p:cNvSpPr/>
          <p:nvPr/>
        </p:nvSpPr>
        <p:spPr>
          <a:xfrm>
            <a:off x="9696960" y="3974040"/>
            <a:ext cx="286452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Hozzávalók nyomon követése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Text 14"/>
          <p:cNvSpPr/>
          <p:nvPr/>
        </p:nvSpPr>
        <p:spPr>
          <a:xfrm>
            <a:off x="9696960" y="424692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recipe_ingredients ↔ inventory_items összevetés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Shape 15"/>
          <p:cNvSpPr/>
          <p:nvPr/>
        </p:nvSpPr>
        <p:spPr>
          <a:xfrm>
            <a:off x="798480" y="4871520"/>
            <a:ext cx="428256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Shape 16"/>
          <p:cNvSpPr/>
          <p:nvPr/>
        </p:nvSpPr>
        <p:spPr>
          <a:xfrm>
            <a:off x="946800" y="501984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8" name="EmojiIcon"/>
          <p:cNvSpPr/>
          <p:nvPr/>
        </p:nvSpPr>
        <p:spPr>
          <a:xfrm>
            <a:off x="988920" y="50616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🔍</a:t>
            </a:r>
          </a:p>
        </p:txBody>
      </p:sp>
      <p:sp>
        <p:nvSpPr>
          <p:cNvPr id="272" name="Text 17"/>
          <p:cNvSpPr/>
          <p:nvPr/>
        </p:nvSpPr>
        <p:spPr>
          <a:xfrm>
            <a:off x="946800" y="5556240"/>
            <a:ext cx="313776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Hiányzó hozzávalók azonosítása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18"/>
          <p:cNvSpPr/>
          <p:nvPr/>
        </p:nvSpPr>
        <p:spPr>
          <a:xfrm>
            <a:off x="946800" y="582948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Rendszer megmutatja, mi hiányzik a készletből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Shape 19"/>
          <p:cNvSpPr/>
          <p:nvPr/>
        </p:nvSpPr>
        <p:spPr>
          <a:xfrm>
            <a:off x="5173560" y="4871520"/>
            <a:ext cx="428256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Shape 20"/>
          <p:cNvSpPr/>
          <p:nvPr/>
        </p:nvSpPr>
        <p:spPr>
          <a:xfrm>
            <a:off x="5321880" y="501984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4" name="EmojiIcon"/>
          <p:cNvSpPr/>
          <p:nvPr/>
        </p:nvSpPr>
        <p:spPr>
          <a:xfrm>
            <a:off x="5363640" y="50616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📋</a:t>
            </a:r>
          </a:p>
        </p:txBody>
      </p:sp>
      <p:sp>
        <p:nvSpPr>
          <p:cNvPr id="277" name="Text 21"/>
          <p:cNvSpPr/>
          <p:nvPr/>
        </p:nvSpPr>
        <p:spPr>
          <a:xfrm>
            <a:off x="5321880" y="5556240"/>
            <a:ext cx="24120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Bevásárlólistára helyezés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 22"/>
          <p:cNvSpPr/>
          <p:nvPr/>
        </p:nvSpPr>
        <p:spPr>
          <a:xfrm>
            <a:off x="5321880" y="582948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Egy gombnyomás, és a hiány a listán van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Shape 23"/>
          <p:cNvSpPr/>
          <p:nvPr/>
        </p:nvSpPr>
        <p:spPr>
          <a:xfrm>
            <a:off x="9548640" y="4871520"/>
            <a:ext cx="428256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Shape 24"/>
          <p:cNvSpPr/>
          <p:nvPr/>
        </p:nvSpPr>
        <p:spPr>
          <a:xfrm>
            <a:off x="9696960" y="501984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0" name="EmojiIcon"/>
          <p:cNvSpPr/>
          <p:nvPr/>
        </p:nvSpPr>
        <p:spPr>
          <a:xfrm>
            <a:off x="9738720" y="50616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🔄</a:t>
            </a:r>
          </a:p>
        </p:txBody>
      </p:sp>
      <p:sp>
        <p:nvSpPr>
          <p:cNvPr id="282" name="Text 25"/>
          <p:cNvSpPr/>
          <p:nvPr/>
        </p:nvSpPr>
        <p:spPr>
          <a:xfrm>
            <a:off x="9696960" y="5556240"/>
            <a:ext cx="17442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Készlet frissítése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 26"/>
          <p:cNvSpPr/>
          <p:nvPr/>
        </p:nvSpPr>
        <p:spPr>
          <a:xfrm>
            <a:off x="9696960" y="582948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Főzés után a készlet automatikusan frissül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Shape 27"/>
          <p:cNvSpPr/>
          <p:nvPr/>
        </p:nvSpPr>
        <p:spPr>
          <a:xfrm>
            <a:off x="798480" y="6261480"/>
            <a:ext cx="1303272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Shape 28"/>
          <p:cNvSpPr/>
          <p:nvPr/>
        </p:nvSpPr>
        <p:spPr>
          <a:xfrm>
            <a:off x="946800" y="640980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0" name="EmojiIcon"/>
          <p:cNvSpPr/>
          <p:nvPr/>
        </p:nvSpPr>
        <p:spPr>
          <a:xfrm>
            <a:off x="988920" y="645192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⚡</a:t>
            </a:r>
          </a:p>
        </p:txBody>
      </p:sp>
      <p:sp>
        <p:nvSpPr>
          <p:cNvPr id="287" name="Text 29"/>
          <p:cNvSpPr/>
          <p:nvPr/>
        </p:nvSpPr>
        <p:spPr>
          <a:xfrm>
            <a:off x="946800" y="6946560"/>
            <a:ext cx="359568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Gyorsabb főzés és kevesebb pazarlás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 30"/>
          <p:cNvSpPr/>
          <p:nvPr/>
        </p:nvSpPr>
        <p:spPr>
          <a:xfrm>
            <a:off x="946800" y="7219440"/>
            <a:ext cx="1273608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Pazarlás csökkentése, jobb tervezés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89" name="Picture 40"/>
          <p:cNvPicPr/>
          <p:nvPr/>
        </p:nvPicPr>
        <p:blipFill>
          <a:blip r:embed="rId3"/>
          <a:stretch/>
        </p:blipFill>
        <p:spPr>
          <a:xfrm>
            <a:off x="12689640" y="7778520"/>
            <a:ext cx="1828440" cy="332640"/>
          </a:xfrm>
          <a:prstGeom prst="rect">
            <a:avLst/>
          </a:prstGeom>
          <a:ln w="0">
            <a:noFill/>
          </a:ln>
        </p:spPr>
      </p:pic>
      <p:pic>
        <p:nvPicPr>
          <p:cNvPr id="290" name="Picture 42"/>
          <p:cNvPicPr/>
          <p:nvPr/>
        </p:nvPicPr>
        <p:blipFill>
          <a:blip r:embed="rId4"/>
          <a:stretch/>
        </p:blipFill>
        <p:spPr>
          <a:xfrm>
            <a:off x="9459000" y="30600"/>
            <a:ext cx="4461840" cy="3109320"/>
          </a:xfrm>
          <a:prstGeom prst="rect">
            <a:avLst/>
          </a:prstGeom>
          <a:ln w="0">
            <a:noFill/>
          </a:ln>
        </p:spPr>
      </p:pic>
      <p:pic>
        <p:nvPicPr>
          <p:cNvPr id="291" name="Picture 44"/>
          <p:cNvPicPr/>
          <p:nvPr/>
        </p:nvPicPr>
        <p:blipFill>
          <a:blip r:embed="rId5"/>
          <a:stretch/>
        </p:blipFill>
        <p:spPr>
          <a:xfrm>
            <a:off x="708840" y="110880"/>
            <a:ext cx="3487320" cy="2274120"/>
          </a:xfrm>
          <a:prstGeom prst="rect">
            <a:avLst/>
          </a:prstGeom>
          <a:ln w="0">
            <a:noFill/>
          </a:ln>
        </p:spPr>
      </p:pic>
      <p:pic>
        <p:nvPicPr>
          <p:cNvPr id="292" name="Picture 46"/>
          <p:cNvPicPr/>
          <p:nvPr/>
        </p:nvPicPr>
        <p:blipFill>
          <a:blip r:embed="rId6"/>
          <a:stretch/>
        </p:blipFill>
        <p:spPr>
          <a:xfrm>
            <a:off x="4320000" y="180000"/>
            <a:ext cx="4970520" cy="21247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Shape 0"/>
          <p:cNvSpPr/>
          <p:nvPr/>
        </p:nvSpPr>
        <p:spPr>
          <a:xfrm>
            <a:off x="798480" y="2523240"/>
            <a:ext cx="1215360" cy="241560"/>
          </a:xfrm>
          <a:prstGeom prst="roundRect">
            <a:avLst>
              <a:gd name="adj" fmla="val 7341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Text 1"/>
          <p:cNvSpPr/>
          <p:nvPr/>
        </p:nvSpPr>
        <p:spPr>
          <a:xfrm>
            <a:off x="887400" y="2567880"/>
            <a:ext cx="1037520" cy="15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D9E1FF"/>
                </a:solidFill>
                <a:latin typeface="Calibri Light"/>
                <a:ea typeface="arial"/>
              </a:rPr>
              <a:t>BEVÁSÁRLÓLISTA</a:t>
            </a:r>
            <a:endParaRPr lang="hu-HU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Text 2"/>
          <p:cNvSpPr/>
          <p:nvPr/>
        </p:nvSpPr>
        <p:spPr>
          <a:xfrm>
            <a:off x="798480" y="2802240"/>
            <a:ext cx="3542760" cy="34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01"/>
              </a:lnSpc>
              <a:tabLst>
                <a:tab pos="0" algn="l"/>
              </a:tabLst>
            </a:pPr>
            <a:r>
              <a:rPr lang="en-US" sz="215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Bevásárlólista kezelése</a:t>
            </a:r>
            <a:endParaRPr lang="hu-HU" sz="2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Shape 3"/>
          <p:cNvSpPr/>
          <p:nvPr/>
        </p:nvSpPr>
        <p:spPr>
          <a:xfrm>
            <a:off x="798480" y="3288960"/>
            <a:ext cx="428256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Shape 4"/>
          <p:cNvSpPr/>
          <p:nvPr/>
        </p:nvSpPr>
        <p:spPr>
          <a:xfrm>
            <a:off x="946800" y="343728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8" name="EmojiIcon"/>
          <p:cNvSpPr/>
          <p:nvPr/>
        </p:nvSpPr>
        <p:spPr>
          <a:xfrm>
            <a:off x="988920" y="34794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🛒</a:t>
            </a:r>
          </a:p>
        </p:txBody>
      </p:sp>
      <p:sp>
        <p:nvSpPr>
          <p:cNvPr id="299" name="Text 5"/>
          <p:cNvSpPr/>
          <p:nvPr/>
        </p:nvSpPr>
        <p:spPr>
          <a:xfrm>
            <a:off x="946800" y="3974040"/>
            <a:ext cx="20250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Bevásárlólista alapjai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 6"/>
          <p:cNvSpPr/>
          <p:nvPr/>
        </p:nvSpPr>
        <p:spPr>
          <a:xfrm>
            <a:off x="946800" y="424692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shopping_list_items tábla — közös lista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Shape 7"/>
          <p:cNvSpPr/>
          <p:nvPr/>
        </p:nvSpPr>
        <p:spPr>
          <a:xfrm>
            <a:off x="5173560" y="3288960"/>
            <a:ext cx="428256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Shape 8"/>
          <p:cNvSpPr/>
          <p:nvPr/>
        </p:nvSpPr>
        <p:spPr>
          <a:xfrm>
            <a:off x="5321880" y="343728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0" name="EmojiIcon"/>
          <p:cNvSpPr/>
          <p:nvPr/>
        </p:nvSpPr>
        <p:spPr>
          <a:xfrm>
            <a:off x="5363640" y="34794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✍️</a:t>
            </a:r>
          </a:p>
        </p:txBody>
      </p:sp>
      <p:sp>
        <p:nvSpPr>
          <p:cNvPr id="304" name="Text 9"/>
          <p:cNvSpPr/>
          <p:nvPr/>
        </p:nvSpPr>
        <p:spPr>
          <a:xfrm>
            <a:off x="5321880" y="3974040"/>
            <a:ext cx="17442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Kézi hozzáadás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 10"/>
          <p:cNvSpPr/>
          <p:nvPr/>
        </p:nvSpPr>
        <p:spPr>
          <a:xfrm>
            <a:off x="5321880" y="424692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Bárki bármikor új tételt rakhat fel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Shape 11"/>
          <p:cNvSpPr/>
          <p:nvPr/>
        </p:nvSpPr>
        <p:spPr>
          <a:xfrm>
            <a:off x="9548640" y="3288960"/>
            <a:ext cx="428256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Shape 12"/>
          <p:cNvSpPr/>
          <p:nvPr/>
        </p:nvSpPr>
        <p:spPr>
          <a:xfrm>
            <a:off x="9696960" y="343728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8" name="EmojiIcon"/>
          <p:cNvSpPr/>
          <p:nvPr/>
        </p:nvSpPr>
        <p:spPr>
          <a:xfrm>
            <a:off x="9738720" y="34794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🔄</a:t>
            </a:r>
          </a:p>
        </p:txBody>
      </p:sp>
      <p:sp>
        <p:nvSpPr>
          <p:cNvPr id="309" name="Text 13"/>
          <p:cNvSpPr/>
          <p:nvPr/>
        </p:nvSpPr>
        <p:spPr>
          <a:xfrm>
            <a:off x="9696960" y="3974040"/>
            <a:ext cx="319896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Receptekből automatikus átvétel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Text 14"/>
          <p:cNvSpPr/>
          <p:nvPr/>
        </p:nvSpPr>
        <p:spPr>
          <a:xfrm>
            <a:off x="9696960" y="424692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Recept hiányzó hozzávalói egy kattintással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Shape 15"/>
          <p:cNvSpPr/>
          <p:nvPr/>
        </p:nvSpPr>
        <p:spPr>
          <a:xfrm>
            <a:off x="798480" y="4679280"/>
            <a:ext cx="4282560" cy="1489680"/>
          </a:xfrm>
          <a:prstGeom prst="roundRect">
            <a:avLst>
              <a:gd name="adj" fmla="val 1492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Shape 16"/>
          <p:cNvSpPr/>
          <p:nvPr/>
        </p:nvSpPr>
        <p:spPr>
          <a:xfrm>
            <a:off x="946800" y="482760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4" name="EmojiIcon"/>
          <p:cNvSpPr/>
          <p:nvPr/>
        </p:nvSpPr>
        <p:spPr>
          <a:xfrm>
            <a:off x="988920" y="486936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👥</a:t>
            </a:r>
          </a:p>
        </p:txBody>
      </p:sp>
      <p:sp>
        <p:nvSpPr>
          <p:cNvPr id="314" name="Text 17"/>
          <p:cNvSpPr/>
          <p:nvPr/>
        </p:nvSpPr>
        <p:spPr>
          <a:xfrm>
            <a:off x="946800" y="5364000"/>
            <a:ext cx="17442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Közös használat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 18"/>
          <p:cNvSpPr/>
          <p:nvPr/>
        </p:nvSpPr>
        <p:spPr>
          <a:xfrm>
            <a:off x="946800" y="563724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Egy lista, mindenki szerkeszti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Shape 19"/>
          <p:cNvSpPr/>
          <p:nvPr/>
        </p:nvSpPr>
        <p:spPr>
          <a:xfrm>
            <a:off x="5173560" y="4679280"/>
            <a:ext cx="4282560" cy="1489680"/>
          </a:xfrm>
          <a:prstGeom prst="roundRect">
            <a:avLst>
              <a:gd name="adj" fmla="val 1492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Shape 20"/>
          <p:cNvSpPr/>
          <p:nvPr/>
        </p:nvSpPr>
        <p:spPr>
          <a:xfrm>
            <a:off x="5321880" y="482760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6" name="EmojiIcon"/>
          <p:cNvSpPr/>
          <p:nvPr/>
        </p:nvSpPr>
        <p:spPr>
          <a:xfrm>
            <a:off x="5363640" y="486936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📅</a:t>
            </a:r>
          </a:p>
        </p:txBody>
      </p:sp>
      <p:sp>
        <p:nvSpPr>
          <p:cNvPr id="319" name="Text 21"/>
          <p:cNvSpPr/>
          <p:nvPr/>
        </p:nvSpPr>
        <p:spPr>
          <a:xfrm>
            <a:off x="5321880" y="5364000"/>
            <a:ext cx="17442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Tervezett vásárlás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Text 22"/>
          <p:cNvSpPr/>
          <p:nvPr/>
        </p:nvSpPr>
        <p:spPr>
          <a:xfrm>
            <a:off x="5321880" y="5637240"/>
            <a:ext cx="39859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Tervezett vásárlás, kevesebb felesleges út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Shape 23"/>
          <p:cNvSpPr/>
          <p:nvPr/>
        </p:nvSpPr>
        <p:spPr>
          <a:xfrm>
            <a:off x="9548640" y="4679280"/>
            <a:ext cx="4282560" cy="1489680"/>
          </a:xfrm>
          <a:prstGeom prst="roundRect">
            <a:avLst>
              <a:gd name="adj" fmla="val 1492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Shape 24"/>
          <p:cNvSpPr/>
          <p:nvPr/>
        </p:nvSpPr>
        <p:spPr>
          <a:xfrm>
            <a:off x="9696960" y="482760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2" name="EmojiIcon"/>
          <p:cNvSpPr/>
          <p:nvPr/>
        </p:nvSpPr>
        <p:spPr>
          <a:xfrm>
            <a:off x="9738720" y="486936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✅</a:t>
            </a:r>
          </a:p>
        </p:txBody>
      </p:sp>
      <p:sp>
        <p:nvSpPr>
          <p:cNvPr id="324" name="Text 25"/>
          <p:cNvSpPr/>
          <p:nvPr/>
        </p:nvSpPr>
        <p:spPr>
          <a:xfrm>
            <a:off x="9696960" y="5364000"/>
            <a:ext cx="26226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Kimaradt tételek elkerülése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 26"/>
          <p:cNvSpPr/>
          <p:nvPr/>
        </p:nvSpPr>
        <p:spPr>
          <a:xfrm>
            <a:off x="9696960" y="563724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Tételeket pipálni lehet a boltban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Shape 27"/>
          <p:cNvSpPr/>
          <p:nvPr/>
        </p:nvSpPr>
        <p:spPr>
          <a:xfrm>
            <a:off x="798480" y="6261480"/>
            <a:ext cx="1303272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Shape 28"/>
          <p:cNvSpPr/>
          <p:nvPr/>
        </p:nvSpPr>
        <p:spPr>
          <a:xfrm>
            <a:off x="946800" y="640980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0" name="EmojiIcon"/>
          <p:cNvSpPr/>
          <p:nvPr/>
        </p:nvSpPr>
        <p:spPr>
          <a:xfrm>
            <a:off x="988920" y="645192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🖨️</a:t>
            </a:r>
          </a:p>
        </p:txBody>
      </p:sp>
      <p:sp>
        <p:nvSpPr>
          <p:cNvPr id="329" name="Text 29"/>
          <p:cNvSpPr/>
          <p:nvPr/>
        </p:nvSpPr>
        <p:spPr>
          <a:xfrm>
            <a:off x="946800" y="6946560"/>
            <a:ext cx="255096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Bevásárlólista nyomtatása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 30"/>
          <p:cNvSpPr/>
          <p:nvPr/>
        </p:nvSpPr>
        <p:spPr>
          <a:xfrm>
            <a:off x="946800" y="7219440"/>
            <a:ext cx="1273608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@media print stílus — papír nélkül is kéznél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31" name="Picture 40"/>
          <p:cNvPicPr/>
          <p:nvPr/>
        </p:nvPicPr>
        <p:blipFill>
          <a:blip r:embed="rId3"/>
          <a:stretch/>
        </p:blipFill>
        <p:spPr>
          <a:xfrm>
            <a:off x="12689640" y="7778520"/>
            <a:ext cx="1828440" cy="332640"/>
          </a:xfrm>
          <a:prstGeom prst="rect">
            <a:avLst/>
          </a:prstGeom>
          <a:ln w="0">
            <a:noFill/>
          </a:ln>
        </p:spPr>
      </p:pic>
      <p:pic>
        <p:nvPicPr>
          <p:cNvPr id="332" name="Picture 42"/>
          <p:cNvPicPr/>
          <p:nvPr/>
        </p:nvPicPr>
        <p:blipFill>
          <a:blip r:embed="rId4"/>
          <a:stretch/>
        </p:blipFill>
        <p:spPr>
          <a:xfrm>
            <a:off x="6624720" y="271080"/>
            <a:ext cx="7206120" cy="2726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837720" y="1628640"/>
            <a:ext cx="133596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981360" y="1700280"/>
            <a:ext cx="104904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CSAPAT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837720" y="2174040"/>
            <a:ext cx="560628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Csapat munka</a:t>
            </a:r>
            <a:endParaRPr lang="hu-HU" sz="3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hape 3"/>
          <p:cNvSpPr/>
          <p:nvPr/>
        </p:nvSpPr>
        <p:spPr>
          <a:xfrm>
            <a:off x="837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hu-HU" sz="1800" b="0" strike="noStrike" spc="-1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80712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5"/>
          <p:cNvSpPr/>
          <p:nvPr/>
        </p:nvSpPr>
        <p:spPr>
          <a:xfrm>
            <a:off x="1198800" y="3366360"/>
            <a:ext cx="437724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👨‍💻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Sutús Róbert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6"/>
          <p:cNvSpPr/>
          <p:nvPr/>
        </p:nvSpPr>
        <p:spPr>
          <a:xfrm>
            <a:off x="1198800" y="3861720"/>
            <a:ext cx="5726160" cy="79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backend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adatbázis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API integráció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vezérlők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7434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8"/>
          <p:cNvSpPr/>
          <p:nvPr/>
        </p:nvSpPr>
        <p:spPr>
          <a:xfrm>
            <a:off x="740448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7796160" y="3366360"/>
            <a:ext cx="358632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🎨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Udvari Dominik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0"/>
          <p:cNvSpPr/>
          <p:nvPr/>
        </p:nvSpPr>
        <p:spPr>
          <a:xfrm>
            <a:off x="7796160" y="386172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 dirty="0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frontend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 dirty="0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UI/UX, </a:t>
            </a:r>
            <a:r>
              <a:rPr lang="en-US" sz="1850" b="0" strike="noStrike" spc="-1" dirty="0" err="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reszponzív</a:t>
            </a:r>
            <a:endParaRPr lang="hu-HU" sz="185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Shape 11"/>
          <p:cNvSpPr/>
          <p:nvPr/>
        </p:nvSpPr>
        <p:spPr>
          <a:xfrm>
            <a:off x="807120" y="5095800"/>
            <a:ext cx="650736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Shape 12"/>
          <p:cNvSpPr/>
          <p:nvPr/>
        </p:nvSpPr>
        <p:spPr>
          <a:xfrm>
            <a:off x="807120" y="516744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13"/>
          <p:cNvSpPr/>
          <p:nvPr/>
        </p:nvSpPr>
        <p:spPr>
          <a:xfrm>
            <a:off x="119880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🤝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Közös munka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4"/>
          <p:cNvSpPr/>
          <p:nvPr/>
        </p:nvSpPr>
        <p:spPr>
          <a:xfrm>
            <a:off x="1303200" y="5909400"/>
            <a:ext cx="57261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tervezés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kódreview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tesztelés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agile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15"/>
          <p:cNvSpPr/>
          <p:nvPr/>
        </p:nvSpPr>
        <p:spPr>
          <a:xfrm>
            <a:off x="7434720" y="5167440"/>
            <a:ext cx="635724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6"/>
          <p:cNvSpPr/>
          <p:nvPr/>
        </p:nvSpPr>
        <p:spPr>
          <a:xfrm>
            <a:off x="7404480" y="5167440"/>
            <a:ext cx="121320" cy="143280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7"/>
          <p:cNvSpPr/>
          <p:nvPr/>
        </p:nvSpPr>
        <p:spPr>
          <a:xfrm>
            <a:off x="779616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 dirty="0">
                <a:solidFill>
                  <a:srgbClr val="000000"/>
                </a:solidFill>
                <a:latin typeface="Calibri Light"/>
                <a:ea typeface="Syne Bold"/>
              </a:rPr>
              <a:t>🚀</a:t>
            </a:r>
            <a:r>
              <a:rPr lang="en-US" sz="2200" b="1" strike="noStrike" spc="-1" dirty="0">
                <a:solidFill>
                  <a:srgbClr val="D9E1FF"/>
                </a:solidFill>
                <a:latin typeface="Calibri Light"/>
                <a:ea typeface="Syne Bold"/>
              </a:rPr>
              <a:t> </a:t>
            </a:r>
            <a:r>
              <a:rPr lang="en-US" sz="2200" b="1" strike="noStrike" spc="-1" dirty="0" err="1">
                <a:solidFill>
                  <a:srgbClr val="D9E1FF"/>
                </a:solidFill>
                <a:latin typeface="Calibri Light"/>
                <a:ea typeface="Syne Bold"/>
              </a:rPr>
              <a:t>Eredmény</a:t>
            </a:r>
            <a:endParaRPr lang="hu-HU" sz="22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18"/>
          <p:cNvSpPr/>
          <p:nvPr/>
        </p:nvSpPr>
        <p:spPr>
          <a:xfrm>
            <a:off x="7796160" y="593280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Magic Fridge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 – működő, használható alkalmazás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Text 0"/>
          <p:cNvSpPr/>
          <p:nvPr/>
        </p:nvSpPr>
        <p:spPr>
          <a:xfrm>
            <a:off x="4652280" y="3517920"/>
            <a:ext cx="5325120" cy="54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ts val="4201"/>
              </a:lnSpc>
              <a:tabLst>
                <a:tab pos="0" algn="l"/>
              </a:tabLst>
            </a:pPr>
            <a:r>
              <a:rPr lang="en-US" sz="335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Eredmények &amp; Jövő </a:t>
            </a:r>
            <a:endParaRPr lang="hu-HU" sz="3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Shape 1"/>
          <p:cNvSpPr/>
          <p:nvPr/>
        </p:nvSpPr>
        <p:spPr>
          <a:xfrm>
            <a:off x="837720" y="4384440"/>
            <a:ext cx="12954240" cy="2571120"/>
          </a:xfrm>
          <a:prstGeom prst="roundRect">
            <a:avLst>
              <a:gd name="adj" fmla="val 1326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Shape 2"/>
          <p:cNvSpPr/>
          <p:nvPr/>
        </p:nvSpPr>
        <p:spPr>
          <a:xfrm>
            <a:off x="837720" y="4384440"/>
            <a:ext cx="6476760" cy="2571120"/>
          </a:xfrm>
          <a:prstGeom prst="roundRect">
            <a:avLst>
              <a:gd name="adj" fmla="val 1326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 3"/>
          <p:cNvSpPr/>
          <p:nvPr/>
        </p:nvSpPr>
        <p:spPr>
          <a:xfrm>
            <a:off x="1065240" y="4611960"/>
            <a:ext cx="2674440" cy="341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en-US" sz="21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✅</a:t>
            </a:r>
            <a:r>
              <a:rPr lang="en-US" sz="21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Elkészült</a:t>
            </a:r>
            <a:endParaRPr lang="hu-HU" sz="2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Text 4"/>
          <p:cNvSpPr/>
          <p:nvPr/>
        </p:nvSpPr>
        <p:spPr>
          <a:xfrm>
            <a:off x="1065240" y="5083560"/>
            <a:ext cx="6022080" cy="164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Teljes auth rendszer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Háztartás- és raktárkezelés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Recept API integráció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Automatikus bevásárlólista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Shape 5"/>
          <p:cNvSpPr/>
          <p:nvPr/>
        </p:nvSpPr>
        <p:spPr>
          <a:xfrm>
            <a:off x="7315200" y="4384440"/>
            <a:ext cx="6476760" cy="2571120"/>
          </a:xfrm>
          <a:prstGeom prst="rect">
            <a:avLst/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Shape 6"/>
          <p:cNvSpPr/>
          <p:nvPr/>
        </p:nvSpPr>
        <p:spPr>
          <a:xfrm>
            <a:off x="7315200" y="4384440"/>
            <a:ext cx="29880" cy="2571120"/>
          </a:xfrm>
          <a:prstGeom prst="roundRect">
            <a:avLst>
              <a:gd name="adj" fmla="val 111915"/>
            </a:avLst>
          </a:prstGeom>
          <a:solidFill>
            <a:srgbClr val="44426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 7"/>
          <p:cNvSpPr/>
          <p:nvPr/>
        </p:nvSpPr>
        <p:spPr>
          <a:xfrm>
            <a:off x="7542720" y="4611960"/>
            <a:ext cx="3444840" cy="341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en-US" sz="21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🔮</a:t>
            </a:r>
            <a:r>
              <a:rPr lang="en-US" sz="21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Jövőbeli fejlesztések</a:t>
            </a:r>
            <a:endParaRPr lang="hu-HU" sz="2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 8"/>
          <p:cNvSpPr/>
          <p:nvPr/>
        </p:nvSpPr>
        <p:spPr>
          <a:xfrm>
            <a:off x="7542720" y="5083560"/>
            <a:ext cx="6022080" cy="164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Mobil applikáció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AI alapú javaslatok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Vonalkód-olvasó integráció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Statisztikák és riportok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Text 9"/>
          <p:cNvSpPr/>
          <p:nvPr/>
        </p:nvSpPr>
        <p:spPr>
          <a:xfrm>
            <a:off x="837720" y="7199640"/>
            <a:ext cx="12954240" cy="353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ts val="2750"/>
              </a:lnSpc>
              <a:tabLst>
                <a:tab pos="0" algn="l"/>
              </a:tabLst>
            </a:pPr>
            <a:endParaRPr lang="en-US" sz="1750" b="0" strike="noStrike" spc="-1">
              <a:solidFill>
                <a:schemeClr val="dk1"/>
              </a:solidFill>
              <a:latin typeface="Calibri Light"/>
            </a:endParaRPr>
          </a:p>
        </p:txBody>
      </p:sp>
      <p:pic>
        <p:nvPicPr>
          <p:cNvPr id="344" name="Picture 15"/>
          <p:cNvPicPr/>
          <p:nvPr/>
        </p:nvPicPr>
        <p:blipFill>
          <a:blip r:embed="rId3"/>
          <a:stretch/>
        </p:blipFill>
        <p:spPr>
          <a:xfrm>
            <a:off x="1355400" y="197640"/>
            <a:ext cx="2997720" cy="36464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101</TotalTime>
  <Words>1685</Words>
  <Application>Microsoft Office PowerPoint</Application>
  <PresentationFormat>Egyéni</PresentationFormat>
  <Paragraphs>248</Paragraphs>
  <Slides>15</Slides>
  <Notes>14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7</vt:i4>
      </vt:variant>
      <vt:variant>
        <vt:lpstr>Téma</vt:lpstr>
      </vt:variant>
      <vt:variant>
        <vt:i4>12</vt:i4>
      </vt:variant>
      <vt:variant>
        <vt:lpstr>Diacímek</vt:lpstr>
      </vt:variant>
      <vt:variant>
        <vt:i4>15</vt:i4>
      </vt:variant>
    </vt:vector>
  </HeadingPairs>
  <TitlesOfParts>
    <vt:vector size="34" baseType="lpstr">
      <vt:lpstr>Arial</vt:lpstr>
      <vt:lpstr>Arial</vt:lpstr>
      <vt:lpstr>Calibri Light</vt:lpstr>
      <vt:lpstr>Segoe UI Emoji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Udvari Dominik</cp:lastModifiedBy>
  <cp:revision>16</cp:revision>
  <dcterms:created xsi:type="dcterms:W3CDTF">2026-04-16T20:35:25Z</dcterms:created>
  <dcterms:modified xsi:type="dcterms:W3CDTF">2026-05-18T19:00:05Z</dcterms:modified>
  <dc:language>hu-HU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Custom</vt:lpwstr>
  </property>
  <property fmtid="{D5CDD505-2E9C-101B-9397-08002B2CF9AE}" pid="4" name="Slides">
    <vt:i4>11</vt:i4>
  </property>
</Properties>
</file>