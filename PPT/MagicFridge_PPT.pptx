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56" r:id="rId3"/>
    <p:sldMasterId id="2147483658" r:id="rId4"/>
    <p:sldMasterId id="2147483660" r:id="rId5"/>
    <p:sldMasterId id="2147483662" r:id="rId6"/>
    <p:sldMasterId id="2147483664" r:id="rId7"/>
  </p:sldMasterIdLst>
  <p:notesMasterIdLst>
    <p:notesMasterId r:id="rId18"/>
  </p:notesMasterIdLst>
  <p:sldIdLst>
    <p:sldId id="256" r:id="rId8"/>
    <p:sldId id="257" r:id="rId9"/>
    <p:sldId id="258" r:id="rId10"/>
    <p:sldId id="259" r:id="rId11"/>
    <p:sldId id="260" r:id="rId12"/>
    <p:sldId id="270" r:id="rId13"/>
    <p:sldId id="271" r:id="rId14"/>
    <p:sldId id="272" r:id="rId15"/>
    <p:sldId id="273" r:id="rId16"/>
    <p:sldId id="266" r:id="rId17"/>
  </p:sldIdLst>
  <p:sldSz cx="14630400" cy="8229600"/>
  <p:notesSz cx="8229600" cy="146304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614" autoAdjust="0"/>
  </p:normalViewPr>
  <p:slideViewPr>
    <p:cSldViewPr snapToGrid="0">
      <p:cViewPr varScale="1">
        <p:scale>
          <a:sx n="67" d="100"/>
          <a:sy n="67" d="100"/>
        </p:scale>
        <p:origin x="17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hu-HU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hu-HU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5C0AE2C-FF9D-4E22-898F-5AC8655CDAB6}" type="slidenum">
              <a:rPr lang="hu-HU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Üdvözlünk mindenkit. Én Udvari Dominik vagyok és a társam pedig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Sutús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Róbert.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Magic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Fridge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projektünket szeretnénk bemutatni. A rendszer célja, hogy a háztartási készletkezelést, a receptválasztást és a bevásárlást egy közös platformon támogassa. A fő értékünk, hogy kevesebb legyen az élelmiszer-pazarlás, gyorsabb legyen a napi döntéshozatal, és átláthatóbb legyen az otthoni élelmiszerkészlet.</a:t>
            </a:r>
          </a:p>
        </p:txBody>
      </p:sp>
      <p:sp>
        <p:nvSpPr>
          <p:cNvPr id="34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172A08-ECAD-454D-983C-A7B4D671A2E6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hu-HU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A kiinduló probléma az, hogy a legtöbb háztartásban nehéz fejben tartani, miből mennyi van otthon, mi fog hamarosan lejárni, és mit kell pótolni. Emiatt gyakori a dupla vásárlás és a kidobott élelmiszer. A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Magic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Fridge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erre ad gyakorlati megoldást készletfigyeléssel, lejáratkövetéssel és receptalapú bevásárlási támogatással.</a:t>
            </a:r>
          </a:p>
        </p:txBody>
      </p:sp>
      <p:sp>
        <p:nvSpPr>
          <p:cNvPr id="35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070FCB4-EA29-422C-A7E5-E36D899546D8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hu-HU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A rendszer több egymásra épülő modulból áll: belépés/regisztráció, háztartáskezelés, raktárkezelés, receptmodul, üzenetek és bevásárlólista. A lényeg, hogy ezek nem külön-külön működnek, hanem folyamatot alkotnak: készletből indulunk, receptet választunk, hiány esetén listát készítünk, majd vásárlás után frissítjük a készletet.</a:t>
            </a:r>
          </a:p>
        </p:txBody>
      </p:sp>
      <p:sp>
        <p:nvSpPr>
          <p:cNvPr id="35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9CBDCB-A993-4734-A142-2B036FC4528B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hu-HU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A projekt backendje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Laravel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alapú PHP környezetben készült, a frontend oldalon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Blade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nézetek, JavaScript és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Vite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támogatja a megjelenítést és interakciót. Az adatokat relációs adatbázisban tároljuk. A backend üzleti logikát kezel, a frontend a felhasználói élményt, a külső API pedig receptadatokkal bővíti a rendszert.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hu-HU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1707D0-918D-46A2-A977-72C0981A525D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hu-HU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Az adatbázis külön táblákban kezeli a felhasználókat, háztartásokat, készletelemeket, recepteket, üzeneteket és bevásárlólista-elemeket. Rövid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demo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során jól látható a teljes körfolyamat: belépés, készletfeltöltés, receptellenőrzés, hiánylistázás, bevásárlólista és készletfrissítés.</a:t>
            </a:r>
          </a:p>
        </p:txBody>
      </p:sp>
      <p:sp>
        <p:nvSpPr>
          <p:cNvPr id="35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61CE21-A160-452C-91C7-8DC58C280F06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hu-HU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az oldal röviden bemutatja, hogy a rendszer szerveroldali része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Laravel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 alapon fut (PHP 8.2),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csomagkezeléssel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Artisan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 eszközökkel.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Auth rész mutatja, hogy a webes útvonalak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web.php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fájlban vannak, és a beléptetés kezelése külön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-ben történik. A Vezérlők blokkban a fő üzleti logikát kezelő kontrollerek szerepelnek (Household,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Recipe,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amelyek az egyes funkciókért felelnek. A Mail &amp;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Queue</a:t>
            </a:r>
            <a:r>
              <a:rPr lang="hu-H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rész azt jelzi, hogy az e-mail értesítések és a hosszabb futású műveletek aszinkron feldolgozással mennek, így gyorsabb marad a felhasználói élmény.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05C0AE2C-FF9D-4E22-898F-5AC8655CDAB6}" type="slidenum"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6</a:t>
            </a:fld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384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felület reszponzív kialakítása külön optimalizált nézeteket biztosít asztali, tablet és mobil eszközökre, figyelembe véve a különböző </a:t>
            </a:r>
            <a:r>
              <a:rPr lang="hu-HU" dirty="0" err="1"/>
              <a:t>kijelzőméreteket</a:t>
            </a:r>
            <a:r>
              <a:rPr lang="hu-HU" dirty="0"/>
              <a:t> és felhasználói interakciókat. Az asztali verzió 3 oszlopos rácsszerkezetet és teljes navigációt alkalmaz, míg kisebb képernyőkön kompakt menü és egyoszlopos elrendezés javítja a használhatóságot. A rendszer nyomtatási nézetet is támogat, amely tiszta, strukturált és nyomtatható tartalommegjelenítést biztosít 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@media print</a:t>
            </a:r>
            <a:r>
              <a:rPr lang="hu-HU" dirty="0"/>
              <a:t> használatával.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05C0AE2C-FF9D-4E22-898F-5AC8655CDAB6}" type="slidenum"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8</a:t>
            </a:fld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7161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 fejlesztése csapatmunkában valósult meg, ahol a backend, adatbázis-kezelés és API-integrációk mellett a frontend és UI/UX tervezés is elkülönített feladatkörök szerint készült. A közös munkafolyamatot tervezés, </a:t>
            </a:r>
            <a:r>
              <a:rPr lang="hu-HU" dirty="0" err="1"/>
              <a:t>kódreview</a:t>
            </a:r>
            <a:r>
              <a:rPr lang="hu-HU" dirty="0"/>
              <a:t> és tesztelés támogatta agilis szemléletben, biztosítva a hatékony együttműködést. Az eredmény egy működő, reszponzív és felhasználóbarát alkalmazás lett, amely a </a:t>
            </a:r>
            <a:r>
              <a:rPr lang="hu-HU" dirty="0" err="1"/>
              <a:t>Magic</a:t>
            </a:r>
            <a:r>
              <a:rPr lang="hu-HU" dirty="0"/>
              <a:t> </a:t>
            </a:r>
            <a:r>
              <a:rPr lang="hu-HU" dirty="0" err="1"/>
              <a:t>Fridge</a:t>
            </a:r>
            <a:r>
              <a:rPr lang="hu-HU" dirty="0"/>
              <a:t> rendszer teljes funkcionalitását biztosítja.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05C0AE2C-FF9D-4E22-898F-5AC8655CDAB6}" type="slidenum">
              <a:rPr lang="hu-HU" sz="1400" b="0" strike="noStrike" spc="-1" smtClean="0">
                <a:solidFill>
                  <a:srgbClr val="000000"/>
                </a:solidFill>
                <a:latin typeface="Times New Roman"/>
              </a:rPr>
              <a:t>9</a:t>
            </a:fld>
            <a:endParaRPr lang="hu-H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3680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Összességében a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Magic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hu-HU" sz="2000" b="0" strike="noStrike" spc="-1" dirty="0" err="1">
                <a:solidFill>
                  <a:srgbClr val="000000"/>
                </a:solidFill>
                <a:latin typeface="Arial"/>
              </a:rPr>
              <a:t>Fridge</a:t>
            </a: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egy használható, valós problémára épülő megoldás. A legnagyobb előny a jobb átláthatóság, kevesebb pazarlás és egyszerűbb közös háztartási működés. Jövőben tovább bővíthető például okosabb ajánlásokkal vagy mobil fókuszú funkciókkal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hu-H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hu-HU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hu-HU" sz="2000" dirty="0"/>
              <a:t>A </a:t>
            </a:r>
            <a:r>
              <a:rPr lang="hu-HU" sz="2000" dirty="0" err="1"/>
              <a:t>Magic</a:t>
            </a:r>
            <a:r>
              <a:rPr lang="hu-HU" sz="2000" dirty="0"/>
              <a:t> </a:t>
            </a:r>
            <a:r>
              <a:rPr lang="hu-HU" sz="2000" dirty="0" err="1"/>
              <a:t>Fridge</a:t>
            </a:r>
            <a:r>
              <a:rPr lang="hu-HU" sz="2000" dirty="0"/>
              <a:t> projekt sikeresen megvalósította az alapvető funkciókat, többek között a hitelesítési rendszert, a háztartás- és raktárkezelést, valamint az automatikus bevásárlólista és recept API integrációját. A fejlesztés során kiemelt szempont volt a skálázhatóság és a felhasználói élmény, amely stabil alapot biztosít a jövőbeli bővítésekhez. A tervezett fejlesztések között szerepel mobilalkalmazás támogatás, AI-alapú ajánlórendszer, vonalkód-olvasó integráció, valamint részletes statisztikai és riport funkciók bevezetése.</a:t>
            </a:r>
            <a:endParaRPr lang="hu-HU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BF8CB8-BC8E-4853-AE86-748307799305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hu-HU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hu-HU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hu-HU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hu-HU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hu-HU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hu-HU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hu-HU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062320" y="4369320"/>
            <a:ext cx="4505040" cy="57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4399"/>
              </a:lnSpc>
              <a:tabLst>
                <a:tab pos="0" algn="l"/>
              </a:tabLst>
            </a:pPr>
            <a:r>
              <a:rPr lang="en-US" sz="3500" b="1" strike="noStrike" spc="-1">
                <a:solidFill>
                  <a:srgbClr val="3371A5"/>
                </a:solidFill>
                <a:latin typeface="Calibri Light"/>
                <a:ea typeface="Syne Bold"/>
              </a:rPr>
              <a:t>Magic Fridge</a:t>
            </a:r>
            <a:r>
              <a:rPr lang="en-US" sz="3500" b="1" strike="noStrike" spc="-1">
                <a:solidFill>
                  <a:srgbClr val="FFFFFF"/>
                </a:solidFill>
                <a:latin typeface="Calibri Light"/>
                <a:ea typeface="Syne Bold"/>
              </a:rPr>
              <a:t> </a:t>
            </a:r>
            <a:r>
              <a:rPr lang="en-US" sz="35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🧊</a:t>
            </a:r>
            <a:endParaRPr lang="hu-HU" sz="3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3482640" y="5036040"/>
            <a:ext cx="7664040" cy="42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3300"/>
              </a:lnSpc>
              <a:tabLst>
                <a:tab pos="0" algn="l"/>
              </a:tabLst>
            </a:pPr>
            <a:r>
              <a:rPr lang="en-US" sz="2650" b="1" strike="noStrike" spc="-1">
                <a:solidFill>
                  <a:srgbClr val="FFFFFF"/>
                </a:solidFill>
                <a:latin typeface="Calibri Light"/>
                <a:ea typeface="Syne Bold"/>
              </a:rPr>
              <a:t>Intelligens hűtő- és kamrakezelő rendszer</a:t>
            </a:r>
            <a:endParaRPr lang="hu-HU" sz="2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837720" y="5817240"/>
            <a:ext cx="1295424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Kevesebb pazarlás. Okosabb bevásárlás. Egyszerűbb háztartás.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4500000" y="6480000"/>
            <a:ext cx="521964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Készítette: Sutús Róbert , Udvari Dominik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" name="Picture 9"/>
          <p:cNvPicPr/>
          <p:nvPr/>
        </p:nvPicPr>
        <p:blipFill>
          <a:blip r:embed="rId3"/>
          <a:stretch/>
        </p:blipFill>
        <p:spPr>
          <a:xfrm>
            <a:off x="5280480" y="539280"/>
            <a:ext cx="3357720" cy="3241800"/>
          </a:xfrm>
          <a:prstGeom prst="rect">
            <a:avLst/>
          </a:prstGeom>
          <a:ln w="0">
            <a:noFill/>
          </a:ln>
        </p:spPr>
      </p:pic>
      <p:pic>
        <p:nvPicPr>
          <p:cNvPr id="67" name="Picture 11"/>
          <p:cNvPicPr/>
          <p:nvPr/>
        </p:nvPicPr>
        <p:blipFill>
          <a:blip r:embed="rId4"/>
          <a:stretch/>
        </p:blipFill>
        <p:spPr>
          <a:xfrm>
            <a:off x="272160" y="138240"/>
            <a:ext cx="3241080" cy="480132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13"/>
          <p:cNvPicPr/>
          <p:nvPr/>
        </p:nvPicPr>
        <p:blipFill>
          <a:blip r:embed="rId5"/>
          <a:stretch/>
        </p:blipFill>
        <p:spPr>
          <a:xfrm>
            <a:off x="11086200" y="189000"/>
            <a:ext cx="3271320" cy="4845960"/>
          </a:xfrm>
          <a:prstGeom prst="rect">
            <a:avLst/>
          </a:prstGeom>
          <a:ln w="0">
            <a:noFill/>
          </a:ln>
        </p:spPr>
      </p:pic>
      <p:sp>
        <p:nvSpPr>
          <p:cNvPr id="69" name="Rectangle 68"/>
          <p:cNvSpPr/>
          <p:nvPr/>
        </p:nvSpPr>
        <p:spPr>
          <a:xfrm>
            <a:off x="540000" y="5760000"/>
            <a:ext cx="18036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060232" y="5230102"/>
            <a:ext cx="1689088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hu-HU" sz="1800" b="0" strike="noStrike" spc="-1" dirty="0" err="1">
                <a:solidFill>
                  <a:srgbClr val="FFFFFF"/>
                </a:solidFill>
                <a:latin typeface="Arial"/>
              </a:rPr>
              <a:t>Sutús</a:t>
            </a:r>
            <a:r>
              <a:rPr lang="hu-HU" sz="1800" b="0" strike="noStrike" spc="-1" dirty="0">
                <a:solidFill>
                  <a:srgbClr val="FFFFFF"/>
                </a:solidFill>
                <a:latin typeface="Arial"/>
              </a:rPr>
              <a:t> Róbert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880000" y="5233680"/>
            <a:ext cx="178956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hu-HU" sz="1800" b="0" strike="noStrike" spc="-1">
                <a:solidFill>
                  <a:srgbClr val="FFFFFF"/>
                </a:solidFill>
                <a:latin typeface="Arial"/>
              </a:rPr>
              <a:t>Udvari Dominik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981360" y="3790080"/>
            <a:ext cx="1538280" cy="709560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1260000" y="3961800"/>
            <a:ext cx="928080" cy="30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D9E1FF"/>
                </a:solidFill>
                <a:latin typeface="Calibri Light"/>
                <a:ea typeface="arial"/>
              </a:rPr>
              <a:t>PROBLÉMA</a:t>
            </a:r>
            <a:endParaRPr lang="hu-HU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981360" y="4946040"/>
            <a:ext cx="9165960" cy="5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399"/>
              </a:lnSpc>
              <a:tabLst>
                <a:tab pos="0" algn="l"/>
              </a:tabLst>
            </a:pPr>
            <a:r>
              <a:rPr lang="hu-HU" sz="3500" b="1" strike="noStrike" spc="-1" dirty="0">
                <a:solidFill>
                  <a:srgbClr val="FFFFFF"/>
                </a:solidFill>
                <a:latin typeface="Calibri Light"/>
              </a:rPr>
              <a:t>Projekt célja </a:t>
            </a:r>
            <a:endParaRPr lang="hu-HU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981360" y="5868360"/>
            <a:ext cx="4158000" cy="1739520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1220760" y="6107760"/>
            <a:ext cx="34761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🗑️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Élelmiszer-pazarlás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1220760" y="6603120"/>
            <a:ext cx="3679560" cy="76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Lejárt termékek észrevétlenül kerülnek a kukába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5379480" y="5868360"/>
            <a:ext cx="4158000" cy="1739520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5618520" y="6107760"/>
            <a:ext cx="351072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📋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Kaotikus bevásárlás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5618520" y="6603120"/>
            <a:ext cx="3679560" cy="76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Nincs áttekintés, mi van otthon és mi hiányzik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9777240" y="5868360"/>
            <a:ext cx="4158000" cy="1739520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10016640" y="6107760"/>
            <a:ext cx="340020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👨‍👩‍👧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Koordináció hiánya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10016640" y="6603120"/>
            <a:ext cx="3679560" cy="76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Többen vásárolnak, mindenki mást vesz meg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Picture 15"/>
          <p:cNvPicPr/>
          <p:nvPr/>
        </p:nvPicPr>
        <p:blipFill>
          <a:blip r:embed="rId3"/>
          <a:stretch/>
        </p:blipFill>
        <p:spPr>
          <a:xfrm>
            <a:off x="3420000" y="180000"/>
            <a:ext cx="10481400" cy="4788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837720" y="2922480"/>
            <a:ext cx="1027800" cy="307800"/>
          </a:xfrm>
          <a:prstGeom prst="roundRect">
            <a:avLst>
              <a:gd name="adj" fmla="val 6981"/>
            </a:avLst>
          </a:prstGeom>
          <a:solidFill>
            <a:srgbClr val="0F00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945360" y="2976480"/>
            <a:ext cx="8125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551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D9E1FF"/>
                </a:solidFill>
                <a:latin typeface="Calibri Light"/>
                <a:ea typeface="arial"/>
              </a:rPr>
              <a:t>MEGOLDÁS</a:t>
            </a:r>
            <a:endParaRPr lang="hu-HU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837720" y="3285000"/>
            <a:ext cx="5292360" cy="42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300"/>
              </a:lnSpc>
              <a:tabLst>
                <a:tab pos="0" algn="l"/>
              </a:tabLst>
            </a:pPr>
            <a:r>
              <a:rPr lang="en-US" sz="2650" b="1" strike="noStrike" spc="-1">
                <a:solidFill>
                  <a:srgbClr val="FFFFFF"/>
                </a:solidFill>
                <a:latin typeface="Calibri Light"/>
                <a:ea typeface="Syne Bold"/>
              </a:rPr>
              <a:t>A Magic Fridge főbb funkciói</a:t>
            </a:r>
            <a:endParaRPr lang="hu-HU" sz="2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837720" y="3909240"/>
            <a:ext cx="4227840" cy="1878480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1017000" y="4088880"/>
            <a:ext cx="537840" cy="537840"/>
          </a:xfrm>
          <a:prstGeom prst="roundRect">
            <a:avLst>
              <a:gd name="adj" fmla="val 16978173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8" name="EmojiIcon"/>
          <p:cNvSpPr/>
          <p:nvPr/>
        </p:nvSpPr>
        <p:spPr>
          <a:xfrm>
            <a:off x="1106100" y="4177620"/>
            <a:ext cx="360000" cy="3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u-HU" sz="2000" b="0" strike="noStrike" spc="-1">
                <a:solidFill>
                  <a:srgbClr val="FFFFFF"/>
                </a:solidFill>
                <a:latin typeface="Segoe UI Emoji"/>
                <a:ea typeface="Segoe UI Emoji"/>
              </a:rPr>
              <a:t>📦</a:t>
            </a:r>
          </a:p>
        </p:txBody>
      </p:sp>
      <p:sp>
        <p:nvSpPr>
          <p:cNvPr id="92" name="Text 5"/>
          <p:cNvSpPr/>
          <p:nvPr/>
        </p:nvSpPr>
        <p:spPr>
          <a:xfrm>
            <a:off x="1017000" y="4761720"/>
            <a:ext cx="2520720" cy="26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049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Raktárkészlet kezelés</a:t>
            </a:r>
            <a:endParaRPr lang="hu-HU" sz="1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1017000" y="5106600"/>
            <a:ext cx="3868920" cy="25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D9E1FF"/>
                </a:solidFill>
                <a:latin typeface="Calibri Light"/>
                <a:ea typeface="arial"/>
              </a:rPr>
              <a:t>Mennyiség és lejárati idő nyomon követése</a:t>
            </a:r>
            <a:endParaRPr lang="hu-HU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5200920" y="3909240"/>
            <a:ext cx="4227840" cy="1878480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5380200" y="4088880"/>
            <a:ext cx="537840" cy="537840"/>
          </a:xfrm>
          <a:prstGeom prst="roundRect">
            <a:avLst>
              <a:gd name="adj" fmla="val 16978173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2" name="EmojiIcon"/>
          <p:cNvSpPr/>
          <p:nvPr/>
        </p:nvSpPr>
        <p:spPr>
          <a:xfrm>
            <a:off x="5469300" y="4177620"/>
            <a:ext cx="360000" cy="3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u-HU" sz="2000" b="0" strike="noStrike" spc="-1">
                <a:solidFill>
                  <a:srgbClr val="FFFFFF"/>
                </a:solidFill>
                <a:latin typeface="Segoe UI Emoji"/>
                <a:ea typeface="Segoe UI Emoji"/>
              </a:rPr>
              <a:t>🛒</a:t>
            </a:r>
          </a:p>
        </p:txBody>
      </p:sp>
      <p:sp>
        <p:nvSpPr>
          <p:cNvPr id="97" name="Text 9"/>
          <p:cNvSpPr/>
          <p:nvPr/>
        </p:nvSpPr>
        <p:spPr>
          <a:xfrm>
            <a:off x="5380200" y="4761720"/>
            <a:ext cx="3156840" cy="26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049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Automatikus bevásárlólista</a:t>
            </a:r>
            <a:endParaRPr lang="hu-HU" sz="1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5380200" y="5106600"/>
            <a:ext cx="386892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D9E1FF"/>
                </a:solidFill>
                <a:latin typeface="Calibri Light"/>
                <a:ea typeface="arial"/>
              </a:rPr>
              <a:t>Hiányzó termékek automatikusan listára kerülnek</a:t>
            </a:r>
            <a:endParaRPr lang="hu-HU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9564120" y="3909240"/>
            <a:ext cx="4227840" cy="1878480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9743400" y="4088880"/>
            <a:ext cx="537840" cy="537840"/>
          </a:xfrm>
          <a:prstGeom prst="roundRect">
            <a:avLst>
              <a:gd name="adj" fmla="val 16978173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2" name="EmojiIcon"/>
          <p:cNvSpPr/>
          <p:nvPr/>
        </p:nvSpPr>
        <p:spPr>
          <a:xfrm>
            <a:off x="9832500" y="4177620"/>
            <a:ext cx="360000" cy="3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u-HU" sz="2000" b="0" strike="noStrike" spc="-1">
                <a:solidFill>
                  <a:srgbClr val="FFFFFF"/>
                </a:solidFill>
                <a:latin typeface="Segoe UI Emoji"/>
                <a:ea typeface="Segoe UI Emoji"/>
              </a:rPr>
              <a:t>🍳</a:t>
            </a:r>
          </a:p>
        </p:txBody>
      </p:sp>
      <p:sp>
        <p:nvSpPr>
          <p:cNvPr id="102" name="Text 13"/>
          <p:cNvSpPr/>
          <p:nvPr/>
        </p:nvSpPr>
        <p:spPr>
          <a:xfrm>
            <a:off x="9743400" y="4761720"/>
            <a:ext cx="3331800" cy="26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049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Recept </a:t>
            </a:r>
            <a:r>
              <a:rPr lang="en-US" sz="165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↔</a:t>
            </a:r>
            <a:r>
              <a:rPr lang="en-US" sz="165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Raktár összevetés</a:t>
            </a:r>
            <a:endParaRPr lang="hu-HU" sz="1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9743400" y="5106600"/>
            <a:ext cx="3868920" cy="25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D9E1FF"/>
                </a:solidFill>
                <a:latin typeface="Calibri Light"/>
                <a:ea typeface="arial"/>
              </a:rPr>
              <a:t>Külső API-ból lekért receptek alapján tervez</a:t>
            </a:r>
            <a:endParaRPr lang="hu-HU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837720" y="5923080"/>
            <a:ext cx="6409440" cy="1627200"/>
          </a:xfrm>
          <a:prstGeom prst="roundRect">
            <a:avLst>
              <a:gd name="adj" fmla="val 1654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hu-HU" sz="1800" b="0" strike="noStrike" spc="-1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5" name="Shape 16"/>
          <p:cNvSpPr/>
          <p:nvPr/>
        </p:nvSpPr>
        <p:spPr>
          <a:xfrm>
            <a:off x="1017000" y="6102720"/>
            <a:ext cx="537840" cy="537840"/>
          </a:xfrm>
          <a:prstGeom prst="roundRect">
            <a:avLst>
              <a:gd name="adj" fmla="val 16978173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2" name="EmojiIcon"/>
          <p:cNvSpPr/>
          <p:nvPr/>
        </p:nvSpPr>
        <p:spPr>
          <a:xfrm>
            <a:off x="1106100" y="6191460"/>
            <a:ext cx="360000" cy="3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u-HU" sz="2000" b="0" strike="noStrike" spc="-1">
                <a:solidFill>
                  <a:srgbClr val="FFFFFF"/>
                </a:solidFill>
                <a:latin typeface="Segoe UI Emoji"/>
                <a:ea typeface="Segoe UI Emoji"/>
              </a:rPr>
              <a:t>👨‍👩‍👧</a:t>
            </a:r>
          </a:p>
        </p:txBody>
      </p:sp>
      <p:sp>
        <p:nvSpPr>
          <p:cNvPr id="107" name="Text 17"/>
          <p:cNvSpPr/>
          <p:nvPr/>
        </p:nvSpPr>
        <p:spPr>
          <a:xfrm>
            <a:off x="1017000" y="6775560"/>
            <a:ext cx="2111400" cy="26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049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Háztartás kezelés</a:t>
            </a:r>
            <a:endParaRPr lang="hu-HU" sz="1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1017000" y="7120440"/>
            <a:ext cx="6050520" cy="25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D9E1FF"/>
                </a:solidFill>
                <a:latin typeface="Calibri Light"/>
                <a:ea typeface="arial"/>
              </a:rPr>
              <a:t>Tagok meghívása, szerepkörök és jogosultságok kezelése</a:t>
            </a:r>
            <a:endParaRPr lang="hu-HU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7382520" y="5923080"/>
            <a:ext cx="6409440" cy="1627200"/>
          </a:xfrm>
          <a:prstGeom prst="roundRect">
            <a:avLst>
              <a:gd name="adj" fmla="val 1654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20"/>
          <p:cNvSpPr/>
          <p:nvPr/>
        </p:nvSpPr>
        <p:spPr>
          <a:xfrm>
            <a:off x="7561800" y="6102720"/>
            <a:ext cx="537840" cy="537840"/>
          </a:xfrm>
          <a:prstGeom prst="roundRect">
            <a:avLst>
              <a:gd name="adj" fmla="val 16978173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0" name="EmojiIcon"/>
          <p:cNvSpPr/>
          <p:nvPr/>
        </p:nvSpPr>
        <p:spPr>
          <a:xfrm>
            <a:off x="7650900" y="6191460"/>
            <a:ext cx="360000" cy="3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u-HU" sz="2000" b="0" strike="noStrike" spc="-1">
                <a:solidFill>
                  <a:srgbClr val="FFFFFF"/>
                </a:solidFill>
                <a:latin typeface="Segoe UI Emoji"/>
                <a:ea typeface="Segoe UI Emoji"/>
              </a:rPr>
              <a:t>🔔</a:t>
            </a:r>
          </a:p>
        </p:txBody>
      </p:sp>
      <p:sp>
        <p:nvSpPr>
          <p:cNvPr id="112" name="Text 21"/>
          <p:cNvSpPr/>
          <p:nvPr/>
        </p:nvSpPr>
        <p:spPr>
          <a:xfrm>
            <a:off x="7561800" y="6775560"/>
            <a:ext cx="2745720" cy="26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049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Üzenetek és értesítések</a:t>
            </a:r>
            <a:endParaRPr lang="hu-HU" sz="1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7561800" y="7120440"/>
            <a:ext cx="6050520" cy="25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D9E1FF"/>
                </a:solidFill>
                <a:latin typeface="Calibri Light"/>
                <a:ea typeface="arial"/>
              </a:rPr>
              <a:t>Háztartáson belüli kommunikáció és automatikus riasztások</a:t>
            </a:r>
            <a:endParaRPr lang="hu-HU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Picture 30"/>
          <p:cNvPicPr/>
          <p:nvPr/>
        </p:nvPicPr>
        <p:blipFill>
          <a:blip r:embed="rId3"/>
          <a:stretch/>
        </p:blipFill>
        <p:spPr>
          <a:xfrm>
            <a:off x="12689640" y="7778520"/>
            <a:ext cx="1828440" cy="33264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32"/>
          <p:cNvPicPr/>
          <p:nvPr/>
        </p:nvPicPr>
        <p:blipFill>
          <a:blip r:embed="rId4"/>
          <a:stretch/>
        </p:blipFill>
        <p:spPr>
          <a:xfrm>
            <a:off x="9743400" y="109440"/>
            <a:ext cx="4107960" cy="361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837720" y="3759120"/>
            <a:ext cx="1775520" cy="448920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981360" y="3830760"/>
            <a:ext cx="1488600" cy="30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D9E1FF"/>
                </a:solidFill>
                <a:latin typeface="Calibri Light"/>
                <a:ea typeface="arial"/>
              </a:rPr>
              <a:t>ARCHITEKTÚRA</a:t>
            </a:r>
            <a:endParaRPr lang="hu-HU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837720" y="4304520"/>
            <a:ext cx="4505040" cy="5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399"/>
              </a:lnSpc>
              <a:tabLst>
                <a:tab pos="0" algn="l"/>
              </a:tabLst>
            </a:pPr>
            <a:r>
              <a:rPr lang="en-US" sz="3500" b="1" strike="noStrike" spc="-1" dirty="0" err="1">
                <a:solidFill>
                  <a:srgbClr val="FFFFFF"/>
                </a:solidFill>
                <a:latin typeface="Calibri Light"/>
                <a:ea typeface="Syne Bold"/>
              </a:rPr>
              <a:t>Technológi</a:t>
            </a:r>
            <a:r>
              <a:rPr lang="hu-HU" sz="3500" b="1" spc="-1" dirty="0">
                <a:solidFill>
                  <a:srgbClr val="FFFFFF"/>
                </a:solidFill>
                <a:latin typeface="Calibri Light"/>
                <a:ea typeface="Syne Bold"/>
              </a:rPr>
              <a:t>a</a:t>
            </a:r>
            <a:endParaRPr lang="hu-HU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6" name="EmojiIcon"/>
          <p:cNvSpPr/>
          <p:nvPr/>
        </p:nvSpPr>
        <p:spPr>
          <a:xfrm>
            <a:off x="837720" y="5226840"/>
            <a:ext cx="597600" cy="59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u-HU" sz="2000" b="0" strike="noStrike" spc="-1">
                <a:solidFill>
                  <a:srgbClr val="FFFFFF"/>
                </a:solidFill>
                <a:latin typeface="Segoe UI Emoji"/>
                <a:ea typeface="Segoe UI Emoji"/>
              </a:rPr>
              <a:t>⚙️</a:t>
            </a:r>
          </a:p>
        </p:txBody>
      </p:sp>
      <p:sp>
        <p:nvSpPr>
          <p:cNvPr id="120" name="Text 3"/>
          <p:cNvSpPr/>
          <p:nvPr/>
        </p:nvSpPr>
        <p:spPr>
          <a:xfrm>
            <a:off x="1735200" y="522684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Backend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1735200" y="5722560"/>
            <a:ext cx="542952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1" strike="noStrike" spc="-1">
                <a:solidFill>
                  <a:srgbClr val="D9E1FF"/>
                </a:solidFill>
                <a:latin typeface="Calibri Light"/>
                <a:ea typeface="arial"/>
              </a:rPr>
              <a:t>Laravel 12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 + PHP 8.2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8" name="EmojiIcon"/>
          <p:cNvSpPr/>
          <p:nvPr/>
        </p:nvSpPr>
        <p:spPr>
          <a:xfrm>
            <a:off x="7464600" y="5226840"/>
            <a:ext cx="597600" cy="59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u-HU" sz="2000" b="0" strike="noStrike" spc="-1">
                <a:solidFill>
                  <a:srgbClr val="FFFFFF"/>
                </a:solidFill>
                <a:latin typeface="Segoe UI Emoji"/>
                <a:ea typeface="Segoe UI Emoji"/>
              </a:rPr>
              <a:t>🎨</a:t>
            </a:r>
          </a:p>
        </p:txBody>
      </p:sp>
      <p:sp>
        <p:nvSpPr>
          <p:cNvPr id="123" name="Text 5"/>
          <p:cNvSpPr/>
          <p:nvPr/>
        </p:nvSpPr>
        <p:spPr>
          <a:xfrm>
            <a:off x="8362440" y="522684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Frontend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8362440" y="5722560"/>
            <a:ext cx="542952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Blade + </a:t>
            </a:r>
            <a:r>
              <a:rPr lang="en-US" sz="1850" b="0" strike="noStrike" spc="-1" dirty="0" err="1">
                <a:solidFill>
                  <a:srgbClr val="D9E1FF"/>
                </a:solidFill>
                <a:latin typeface="Calibri Light"/>
                <a:ea typeface="arial"/>
              </a:rPr>
              <a:t>Vite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 + 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CSS</a:t>
            </a:r>
            <a:endParaRPr lang="hu-HU" sz="1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0" name="EmojiIcon"/>
          <p:cNvSpPr/>
          <p:nvPr/>
        </p:nvSpPr>
        <p:spPr>
          <a:xfrm>
            <a:off x="837720" y="6584040"/>
            <a:ext cx="597600" cy="59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u-HU" sz="2000" b="0" strike="noStrike" spc="-1">
                <a:solidFill>
                  <a:srgbClr val="FFFFFF"/>
                </a:solidFill>
                <a:latin typeface="Segoe UI Emoji"/>
                <a:ea typeface="Segoe UI Emoji"/>
              </a:rPr>
              <a:t>🗄️</a:t>
            </a:r>
          </a:p>
        </p:txBody>
      </p:sp>
      <p:sp>
        <p:nvSpPr>
          <p:cNvPr id="126" name="Text 7"/>
          <p:cNvSpPr/>
          <p:nvPr/>
        </p:nvSpPr>
        <p:spPr>
          <a:xfrm>
            <a:off x="1735200" y="658404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Adatbázis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1735200" y="7079760"/>
            <a:ext cx="542952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MySQL – strukturált, relációs adatmodell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2" name="EmojiIcon"/>
          <p:cNvSpPr/>
          <p:nvPr/>
        </p:nvSpPr>
        <p:spPr>
          <a:xfrm>
            <a:off x="7464600" y="6584040"/>
            <a:ext cx="597600" cy="59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hu-HU" sz="2000" b="0" strike="noStrike" spc="-1">
                <a:solidFill>
                  <a:srgbClr val="FFFFFF"/>
                </a:solidFill>
                <a:latin typeface="Segoe UI Emoji"/>
                <a:ea typeface="Segoe UI Emoji"/>
              </a:rPr>
              <a:t>🌐</a:t>
            </a:r>
          </a:p>
        </p:txBody>
      </p:sp>
      <p:sp>
        <p:nvSpPr>
          <p:cNvPr id="129" name="Text 9"/>
          <p:cNvSpPr/>
          <p:nvPr/>
        </p:nvSpPr>
        <p:spPr>
          <a:xfrm>
            <a:off x="8362440" y="658404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Külső API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8362440" y="7079760"/>
            <a:ext cx="542952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Recept adatok lekérése és fordítása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Picture 17"/>
          <p:cNvPicPr/>
          <p:nvPr/>
        </p:nvPicPr>
        <p:blipFill>
          <a:blip r:embed="rId3"/>
          <a:stretch/>
        </p:blipFill>
        <p:spPr>
          <a:xfrm>
            <a:off x="12689640" y="7778520"/>
            <a:ext cx="1828440" cy="33264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19"/>
          <p:cNvPicPr/>
          <p:nvPr/>
        </p:nvPicPr>
        <p:blipFill>
          <a:blip r:embed="rId4"/>
          <a:stretch/>
        </p:blipFill>
        <p:spPr>
          <a:xfrm>
            <a:off x="12375360" y="337680"/>
            <a:ext cx="1716480" cy="5598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837720" y="1628640"/>
            <a:ext cx="1335960" cy="448920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981360" y="1700280"/>
            <a:ext cx="1049040" cy="30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D9E1FF"/>
                </a:solidFill>
                <a:latin typeface="Calibri Light"/>
                <a:ea typeface="arial"/>
              </a:rPr>
              <a:t>ADATBÁZIS</a:t>
            </a:r>
            <a:endParaRPr lang="hu-HU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837720" y="2174040"/>
            <a:ext cx="5606280" cy="5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399"/>
              </a:lnSpc>
              <a:tabLst>
                <a:tab pos="0" algn="l"/>
              </a:tabLst>
            </a:pPr>
            <a:r>
              <a:rPr lang="en-US" sz="3500" b="1" strike="noStrike" spc="-1">
                <a:solidFill>
                  <a:srgbClr val="FFFFFF"/>
                </a:solidFill>
                <a:latin typeface="Calibri Light"/>
                <a:ea typeface="Syne Bold"/>
              </a:rPr>
              <a:t>Főbb adatbázis táblák</a:t>
            </a:r>
            <a:endParaRPr lang="hu-HU" sz="3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837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hu-HU" sz="1800" b="0" strike="noStrike" spc="-1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80712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1198800" y="3366360"/>
            <a:ext cx="437724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👥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Felhasználók &amp; Háztartás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198800" y="3861720"/>
            <a:ext cx="5726160" cy="79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users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households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household_members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household_invites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7434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740448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796160" y="3366360"/>
            <a:ext cx="358632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🛒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Készlet &amp; Bevásárlás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7796160" y="386172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inventory_items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shopping_list_items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807120" y="5095800"/>
            <a:ext cx="650736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807120" y="516744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119880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🍳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Receptek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1303200" y="5909400"/>
            <a:ext cx="57261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recipes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recipe_ingredients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api_recipe_translations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translations_cache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5"/>
          <p:cNvSpPr/>
          <p:nvPr/>
        </p:nvSpPr>
        <p:spPr>
          <a:xfrm>
            <a:off x="7434720" y="5167440"/>
            <a:ext cx="635724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7404480" y="5167440"/>
            <a:ext cx="121320" cy="143280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779616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💬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Üzenetek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7796160" y="593280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messages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 – háztartáson belüli értesítések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837720" y="1628640"/>
            <a:ext cx="1335960" cy="448920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981360" y="1700280"/>
            <a:ext cx="1049040" cy="30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D9E1FF"/>
                </a:solidFill>
                <a:latin typeface="Calibri Light"/>
                <a:ea typeface="arial"/>
              </a:rPr>
              <a:t>BACKEND</a:t>
            </a:r>
            <a:endParaRPr lang="hu-HU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837720" y="2174040"/>
            <a:ext cx="5606280" cy="5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399"/>
              </a:lnSpc>
              <a:tabLst>
                <a:tab pos="0" algn="l"/>
              </a:tabLst>
            </a:pPr>
            <a:r>
              <a:rPr lang="en-US" sz="3500" b="1" strike="noStrike" spc="-1" dirty="0">
                <a:solidFill>
                  <a:srgbClr val="FFFFFF"/>
                </a:solidFill>
                <a:latin typeface="Calibri Light"/>
                <a:ea typeface="Syne Bold"/>
              </a:rPr>
              <a:t>Backend </a:t>
            </a:r>
            <a:r>
              <a:rPr lang="en-US" sz="3500" b="1" strike="noStrike" spc="-1" dirty="0" err="1">
                <a:solidFill>
                  <a:srgbClr val="FFFFFF"/>
                </a:solidFill>
                <a:latin typeface="Calibri Light"/>
                <a:ea typeface="Syne Bold"/>
              </a:rPr>
              <a:t>technológia</a:t>
            </a:r>
            <a:endParaRPr lang="hu-HU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837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hu-HU" sz="1800" b="0" strike="noStrike" spc="-1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80712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1198800" y="3366360"/>
            <a:ext cx="437724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⚙️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Keretrendszer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198800" y="3861720"/>
            <a:ext cx="5726160" cy="79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 dirty="0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Laravel 12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 dirty="0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PHP 8.2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 dirty="0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Composer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 dirty="0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Artisan CLI</a:t>
            </a:r>
            <a:endParaRPr lang="hu-HU" sz="1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7434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740448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796160" y="3366360"/>
            <a:ext cx="358632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🛣️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Routing &amp; Auth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7796160" y="386172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routes/web.php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AuthController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807120" y="5095800"/>
            <a:ext cx="650736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807120" y="516744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119880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🎮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Vezérlők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1303200" y="5909400"/>
            <a:ext cx="57261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 dirty="0" err="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HouseholdController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 dirty="0" err="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InventoryController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,</a:t>
            </a:r>
            <a:endParaRPr lang="hu-HU" sz="185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 dirty="0" err="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RecipeController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 dirty="0" err="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MessageController</a:t>
            </a:r>
            <a:endParaRPr lang="hu-HU" sz="1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5"/>
          <p:cNvSpPr/>
          <p:nvPr/>
        </p:nvSpPr>
        <p:spPr>
          <a:xfrm>
            <a:off x="7434720" y="5167440"/>
            <a:ext cx="635724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7404480" y="5167440"/>
            <a:ext cx="121320" cy="143280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779616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📧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Mail &amp; Queue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7796160" y="593280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 dirty="0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Mail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 – e-mail </a:t>
            </a:r>
            <a:r>
              <a:rPr lang="en-US" sz="1850" b="0" strike="noStrike" spc="-1" dirty="0" err="1">
                <a:solidFill>
                  <a:srgbClr val="D9E1FF"/>
                </a:solidFill>
                <a:latin typeface="Calibri Light"/>
                <a:ea typeface="arial"/>
              </a:rPr>
              <a:t>értesítések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 dirty="0" err="1">
                <a:solidFill>
                  <a:srgbClr val="D9E1FF"/>
                </a:solidFill>
                <a:latin typeface="Calibri Light"/>
                <a:ea typeface="arial"/>
              </a:rPr>
              <a:t>aszinkron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 </a:t>
            </a:r>
            <a:r>
              <a:rPr lang="en-US" sz="1850" b="0" strike="noStrike" spc="-1" dirty="0" err="1">
                <a:solidFill>
                  <a:srgbClr val="D9E1FF"/>
                </a:solidFill>
                <a:latin typeface="Calibri Light"/>
                <a:ea typeface="arial"/>
              </a:rPr>
              <a:t>feldolgozás</a:t>
            </a:r>
            <a:endParaRPr lang="hu-HU" sz="185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837720" y="1628640"/>
            <a:ext cx="1335960" cy="448920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981360" y="1700280"/>
            <a:ext cx="1049040" cy="30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D9E1FF"/>
                </a:solidFill>
                <a:latin typeface="Calibri Light"/>
                <a:ea typeface="arial"/>
              </a:rPr>
              <a:t>FRONTEND</a:t>
            </a:r>
            <a:endParaRPr lang="hu-HU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837720" y="2174040"/>
            <a:ext cx="5606280" cy="5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399"/>
              </a:lnSpc>
              <a:tabLst>
                <a:tab pos="0" algn="l"/>
              </a:tabLst>
            </a:pPr>
            <a:r>
              <a:rPr lang="en-US" sz="3500" b="1" strike="noStrike" spc="-1" dirty="0">
                <a:solidFill>
                  <a:srgbClr val="FFFFFF"/>
                </a:solidFill>
                <a:latin typeface="Calibri Light"/>
                <a:ea typeface="Syne Bold"/>
              </a:rPr>
              <a:t>Frontend </a:t>
            </a:r>
            <a:r>
              <a:rPr lang="en-US" sz="3500" b="1" strike="noStrike" spc="-1" dirty="0" err="1">
                <a:solidFill>
                  <a:srgbClr val="FFFFFF"/>
                </a:solidFill>
                <a:latin typeface="Calibri Light"/>
                <a:ea typeface="Syne Bold"/>
              </a:rPr>
              <a:t>technológia</a:t>
            </a:r>
            <a:endParaRPr lang="hu-HU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837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hu-HU" sz="1800" b="0" strike="noStrike" spc="-1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80712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1198800" y="3366360"/>
            <a:ext cx="437724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🎨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Sablonok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198800" y="3861720"/>
            <a:ext cx="5726160" cy="79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Blade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@extends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@yield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layouts/app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7434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740448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796160" y="3366360"/>
            <a:ext cx="358632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⚡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Build eszköz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7796160" y="386172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Vite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npm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807120" y="5095800"/>
            <a:ext cx="650736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807120" y="516744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119880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💎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Stílus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1303200" y="5909400"/>
            <a:ext cx="57261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Tailwind v4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app.css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@import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@theme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5"/>
          <p:cNvSpPr/>
          <p:nvPr/>
        </p:nvSpPr>
        <p:spPr>
          <a:xfrm>
            <a:off x="7434720" y="5167440"/>
            <a:ext cx="635724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7404480" y="5167440"/>
            <a:ext cx="121320" cy="143280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779616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🖼️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Egyedi CSS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7796160" y="593280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style.css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 – sötét téma, kártya komponensek, animációk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837720" y="1628640"/>
            <a:ext cx="1335960" cy="448920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981360" y="1700280"/>
            <a:ext cx="1049040" cy="30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D9E1FF"/>
                </a:solidFill>
                <a:latin typeface="Calibri Light"/>
                <a:ea typeface="arial"/>
              </a:rPr>
              <a:t>RESZPONZIVITÁS</a:t>
            </a:r>
            <a:endParaRPr lang="hu-HU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837720" y="2174040"/>
            <a:ext cx="5606280" cy="5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399"/>
              </a:lnSpc>
              <a:tabLst>
                <a:tab pos="0" algn="l"/>
              </a:tabLst>
            </a:pPr>
            <a:r>
              <a:rPr lang="en-US" sz="3500" b="1" strike="noStrike" spc="-1">
                <a:solidFill>
                  <a:srgbClr val="FFFFFF"/>
                </a:solidFill>
                <a:latin typeface="Calibri Light"/>
                <a:ea typeface="Syne Bold"/>
              </a:rPr>
              <a:t>Reszponzív design</a:t>
            </a:r>
            <a:endParaRPr lang="hu-HU" sz="3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837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hu-HU" sz="1800" b="0" strike="noStrike" spc="-1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80712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1198800" y="3366360"/>
            <a:ext cx="437724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🖥️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Asztali nézet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198800" y="3861720"/>
            <a:ext cx="5726160" cy="79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&gt;980px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3-oszlopos rács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teljes navigáció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fix oldalsáv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7434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740448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796160" y="3366360"/>
            <a:ext cx="358632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💻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Tablet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7796160" y="386172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700–980px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kompakt menü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807120" y="5095800"/>
            <a:ext cx="650736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807120" y="516744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119880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📱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Mobil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1303200" y="5909400"/>
            <a:ext cx="57261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&lt;760px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1-oszlop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kártya nézet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hamburger menü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5"/>
          <p:cNvSpPr/>
          <p:nvPr/>
        </p:nvSpPr>
        <p:spPr>
          <a:xfrm>
            <a:off x="7434720" y="5167440"/>
            <a:ext cx="635724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7404480" y="5167440"/>
            <a:ext cx="121320" cy="143280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779616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🖨️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Nyomtatás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7796160" y="593280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@media print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 – tiszta, nyomtatható bevásárlólista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837720" y="1628640"/>
            <a:ext cx="1335960" cy="448920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981360" y="1700280"/>
            <a:ext cx="1049040" cy="30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D9E1FF"/>
                </a:solidFill>
                <a:latin typeface="Calibri Light"/>
                <a:ea typeface="arial"/>
              </a:rPr>
              <a:t>CSAPAT</a:t>
            </a:r>
            <a:endParaRPr lang="hu-HU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837720" y="2174040"/>
            <a:ext cx="5606280" cy="5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399"/>
              </a:lnSpc>
              <a:tabLst>
                <a:tab pos="0" algn="l"/>
              </a:tabLst>
            </a:pPr>
            <a:r>
              <a:rPr lang="en-US" sz="3500" b="1" strike="noStrike" spc="-1">
                <a:solidFill>
                  <a:srgbClr val="FFFFFF"/>
                </a:solidFill>
                <a:latin typeface="Calibri Light"/>
                <a:ea typeface="Syne Bold"/>
              </a:rPr>
              <a:t>Csapat munka</a:t>
            </a:r>
            <a:endParaRPr lang="hu-HU" sz="3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837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hu-HU" sz="1800" b="0" strike="noStrike" spc="-1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80712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1198800" y="3366360"/>
            <a:ext cx="437724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👨‍💻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Sutús Róbert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198800" y="3861720"/>
            <a:ext cx="5726160" cy="79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backend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adatbázis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API integráció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vezérlők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7434720" y="3096360"/>
            <a:ext cx="6357240" cy="1830960"/>
          </a:xfrm>
          <a:prstGeom prst="roundRect">
            <a:avLst>
              <a:gd name="adj" fmla="val 7988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7404480" y="309636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796160" y="3366360"/>
            <a:ext cx="358632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🎨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Udvari Dominik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7796160" y="386172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 dirty="0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frontend</a:t>
            </a:r>
            <a:r>
              <a:rPr lang="en-US" sz="1850" b="0" strike="noStrike" spc="-1" dirty="0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 dirty="0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UI/UX, </a:t>
            </a:r>
            <a:r>
              <a:rPr lang="en-US" sz="1850" b="0" strike="noStrike" spc="-1" dirty="0" err="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reszponzív</a:t>
            </a:r>
            <a:endParaRPr lang="hu-HU" sz="1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807120" y="5095800"/>
            <a:ext cx="650736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807120" y="5167440"/>
            <a:ext cx="121320" cy="183096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119880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🤝</a:t>
            </a:r>
            <a:r>
              <a:rPr lang="en-US" sz="22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Közös munka</a:t>
            </a:r>
            <a:endParaRPr lang="hu-HU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1303200" y="5909400"/>
            <a:ext cx="57261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tervezés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kódreview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tesztelés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, </a:t>
            </a: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agile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5"/>
          <p:cNvSpPr/>
          <p:nvPr/>
        </p:nvSpPr>
        <p:spPr>
          <a:xfrm>
            <a:off x="7434720" y="5167440"/>
            <a:ext cx="6357240" cy="1830960"/>
          </a:xfrm>
          <a:prstGeom prst="roundRect">
            <a:avLst>
              <a:gd name="adj" fmla="val 10207"/>
            </a:avLst>
          </a:prstGeom>
          <a:solidFill>
            <a:srgbClr val="0C0A33"/>
          </a:solidFill>
          <a:ln w="30480">
            <a:solidFill>
              <a:srgbClr val="444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7404480" y="5167440"/>
            <a:ext cx="121320" cy="143280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7796160" y="5437080"/>
            <a:ext cx="2815560" cy="3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Calibri Light"/>
                <a:ea typeface="Syne Bold"/>
              </a:rPr>
              <a:t>🚀</a:t>
            </a:r>
            <a:r>
              <a:rPr lang="en-US" sz="2200" b="1" strike="noStrike" spc="-1" dirty="0">
                <a:solidFill>
                  <a:srgbClr val="D9E1FF"/>
                </a:solidFill>
                <a:latin typeface="Calibri Light"/>
                <a:ea typeface="Syne Bold"/>
              </a:rPr>
              <a:t> </a:t>
            </a:r>
            <a:r>
              <a:rPr lang="en-US" sz="2200" b="1" strike="noStrike" spc="-1" dirty="0" err="1">
                <a:solidFill>
                  <a:srgbClr val="D9E1FF"/>
                </a:solidFill>
                <a:latin typeface="Calibri Light"/>
                <a:ea typeface="Syne Bold"/>
              </a:rPr>
              <a:t>Eredmény</a:t>
            </a:r>
            <a:endParaRPr lang="hu-HU" sz="2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7796160" y="5932800"/>
            <a:ext cx="572616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1850" b="0" strike="noStrike" spc="-1">
                <a:solidFill>
                  <a:srgbClr val="D9E1FF"/>
                </a:solidFill>
                <a:highlight>
                  <a:srgbClr val="191740"/>
                </a:highlight>
                <a:latin typeface="Calibri Light"/>
                <a:ea typeface="Consolas"/>
              </a:rPr>
              <a:t>Magic Fridge</a:t>
            </a:r>
            <a:r>
              <a:rPr lang="en-US" sz="1850" b="0" strike="noStrike" spc="-1">
                <a:solidFill>
                  <a:srgbClr val="D9E1FF"/>
                </a:solidFill>
                <a:latin typeface="Calibri Light"/>
                <a:ea typeface="arial"/>
              </a:rPr>
              <a:t> – működő, használható alkalmazás</a:t>
            </a:r>
            <a:endParaRPr lang="hu-HU" sz="1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0"/>
          <p:cNvSpPr/>
          <p:nvPr/>
        </p:nvSpPr>
        <p:spPr>
          <a:xfrm>
            <a:off x="4652280" y="3517920"/>
            <a:ext cx="5325120" cy="54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4201"/>
              </a:lnSpc>
              <a:tabLst>
                <a:tab pos="0" algn="l"/>
              </a:tabLst>
            </a:pPr>
            <a:r>
              <a:rPr lang="en-US" sz="3350" b="1" strike="noStrike" spc="-1">
                <a:solidFill>
                  <a:srgbClr val="FFFFFF"/>
                </a:solidFill>
                <a:latin typeface="Calibri Light"/>
                <a:ea typeface="Syne Bold"/>
              </a:rPr>
              <a:t>Eredmények &amp; Jövő </a:t>
            </a:r>
            <a:endParaRPr lang="hu-HU" sz="3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1"/>
          <p:cNvSpPr/>
          <p:nvPr/>
        </p:nvSpPr>
        <p:spPr>
          <a:xfrm>
            <a:off x="837720" y="4384440"/>
            <a:ext cx="12954240" cy="2571120"/>
          </a:xfrm>
          <a:prstGeom prst="roundRect">
            <a:avLst>
              <a:gd name="adj" fmla="val 1326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2"/>
          <p:cNvSpPr/>
          <p:nvPr/>
        </p:nvSpPr>
        <p:spPr>
          <a:xfrm>
            <a:off x="837720" y="4384440"/>
            <a:ext cx="6476760" cy="2571120"/>
          </a:xfrm>
          <a:prstGeom prst="roundRect">
            <a:avLst>
              <a:gd name="adj" fmla="val 1326"/>
            </a:avLst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1065240" y="4611960"/>
            <a:ext cx="2674440" cy="34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✅</a:t>
            </a:r>
            <a:r>
              <a:rPr lang="en-US" sz="21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Elkészült</a:t>
            </a:r>
            <a:endParaRPr lang="hu-HU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4"/>
          <p:cNvSpPr/>
          <p:nvPr/>
        </p:nvSpPr>
        <p:spPr>
          <a:xfrm>
            <a:off x="1065240" y="5083560"/>
            <a:ext cx="6022080" cy="16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ts val="2750"/>
              </a:lnSpc>
              <a:buClr>
                <a:srgbClr val="D9E1FF"/>
              </a:buClr>
              <a:buFont typeface="Symbol"/>
              <a:buChar char=""/>
            </a:pPr>
            <a:r>
              <a:rPr lang="en-US" sz="1750" b="0" strike="noStrike" spc="-1">
                <a:solidFill>
                  <a:srgbClr val="D9E1FF"/>
                </a:solidFill>
                <a:latin typeface="Calibri Light"/>
                <a:ea typeface="arial"/>
              </a:rPr>
              <a:t>Teljes auth rendszer</a:t>
            </a:r>
            <a:endParaRPr lang="hu-HU" sz="17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750"/>
              </a:lnSpc>
              <a:buClr>
                <a:srgbClr val="D9E1FF"/>
              </a:buClr>
              <a:buFont typeface="Symbol"/>
              <a:buChar char=""/>
            </a:pPr>
            <a:r>
              <a:rPr lang="en-US" sz="1750" b="0" strike="noStrike" spc="-1">
                <a:solidFill>
                  <a:srgbClr val="D9E1FF"/>
                </a:solidFill>
                <a:latin typeface="Calibri Light"/>
                <a:ea typeface="arial"/>
              </a:rPr>
              <a:t>Háztartás- és raktárkezelés</a:t>
            </a:r>
            <a:endParaRPr lang="hu-HU" sz="17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750"/>
              </a:lnSpc>
              <a:buClr>
                <a:srgbClr val="D9E1FF"/>
              </a:buClr>
              <a:buFont typeface="Symbol"/>
              <a:buChar char=""/>
            </a:pPr>
            <a:r>
              <a:rPr lang="en-US" sz="1750" b="0" strike="noStrike" spc="-1">
                <a:solidFill>
                  <a:srgbClr val="D9E1FF"/>
                </a:solidFill>
                <a:latin typeface="Calibri Light"/>
                <a:ea typeface="arial"/>
              </a:rPr>
              <a:t>Recept API integráció</a:t>
            </a:r>
            <a:endParaRPr lang="hu-HU" sz="17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750"/>
              </a:lnSpc>
              <a:buClr>
                <a:srgbClr val="D9E1FF"/>
              </a:buClr>
              <a:buFont typeface="Symbol"/>
              <a:buChar char=""/>
            </a:pPr>
            <a:r>
              <a:rPr lang="en-US" sz="1750" b="0" strike="noStrike" spc="-1">
                <a:solidFill>
                  <a:srgbClr val="D9E1FF"/>
                </a:solidFill>
                <a:latin typeface="Calibri Light"/>
                <a:ea typeface="arial"/>
              </a:rPr>
              <a:t>Automatikus bevásárlólista</a:t>
            </a:r>
            <a:endParaRPr lang="hu-HU" sz="1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5"/>
          <p:cNvSpPr/>
          <p:nvPr/>
        </p:nvSpPr>
        <p:spPr>
          <a:xfrm>
            <a:off x="7315200" y="4384440"/>
            <a:ext cx="6476760" cy="2571120"/>
          </a:xfrm>
          <a:prstGeom prst="rect">
            <a:avLst/>
          </a:prstGeom>
          <a:solidFill>
            <a:srgbClr val="2B295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6"/>
          <p:cNvSpPr/>
          <p:nvPr/>
        </p:nvSpPr>
        <p:spPr>
          <a:xfrm>
            <a:off x="7315200" y="4384440"/>
            <a:ext cx="29880" cy="2571120"/>
          </a:xfrm>
          <a:prstGeom prst="roundRect">
            <a:avLst>
              <a:gd name="adj" fmla="val 111915"/>
            </a:avLst>
          </a:prstGeom>
          <a:solidFill>
            <a:srgbClr val="4442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hu-H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7"/>
          <p:cNvSpPr/>
          <p:nvPr/>
        </p:nvSpPr>
        <p:spPr>
          <a:xfrm>
            <a:off x="7542720" y="4611960"/>
            <a:ext cx="3444840" cy="34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000000"/>
                </a:solidFill>
                <a:latin typeface="Calibri Light"/>
                <a:ea typeface="Syne Bold"/>
              </a:rPr>
              <a:t>🔮</a:t>
            </a:r>
            <a:r>
              <a:rPr lang="en-US" sz="2100" b="1" strike="noStrike" spc="-1">
                <a:solidFill>
                  <a:srgbClr val="D9E1FF"/>
                </a:solidFill>
                <a:latin typeface="Calibri Light"/>
                <a:ea typeface="Syne Bold"/>
              </a:rPr>
              <a:t> Jövőbeli fejlesztések</a:t>
            </a:r>
            <a:endParaRPr lang="hu-HU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8"/>
          <p:cNvSpPr/>
          <p:nvPr/>
        </p:nvSpPr>
        <p:spPr>
          <a:xfrm>
            <a:off x="7542720" y="5083560"/>
            <a:ext cx="6022080" cy="16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ts val="2750"/>
              </a:lnSpc>
              <a:buClr>
                <a:srgbClr val="D9E1FF"/>
              </a:buClr>
              <a:buFont typeface="Symbol"/>
              <a:buChar char=""/>
            </a:pPr>
            <a:r>
              <a:rPr lang="en-US" sz="1750" b="0" strike="noStrike" spc="-1">
                <a:solidFill>
                  <a:srgbClr val="D9E1FF"/>
                </a:solidFill>
                <a:latin typeface="Calibri Light"/>
                <a:ea typeface="arial"/>
              </a:rPr>
              <a:t>Mobil applikáció</a:t>
            </a:r>
            <a:endParaRPr lang="hu-HU" sz="17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750"/>
              </a:lnSpc>
              <a:buClr>
                <a:srgbClr val="D9E1FF"/>
              </a:buClr>
              <a:buFont typeface="Symbol"/>
              <a:buChar char=""/>
            </a:pPr>
            <a:r>
              <a:rPr lang="en-US" sz="1750" b="0" strike="noStrike" spc="-1">
                <a:solidFill>
                  <a:srgbClr val="D9E1FF"/>
                </a:solidFill>
                <a:latin typeface="Calibri Light"/>
                <a:ea typeface="arial"/>
              </a:rPr>
              <a:t>AI alapú javaslatok</a:t>
            </a:r>
            <a:endParaRPr lang="hu-HU" sz="17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750"/>
              </a:lnSpc>
              <a:buClr>
                <a:srgbClr val="D9E1FF"/>
              </a:buClr>
              <a:buFont typeface="Symbol"/>
              <a:buChar char=""/>
            </a:pPr>
            <a:r>
              <a:rPr lang="en-US" sz="1750" b="0" strike="noStrike" spc="-1">
                <a:solidFill>
                  <a:srgbClr val="D9E1FF"/>
                </a:solidFill>
                <a:latin typeface="Calibri Light"/>
                <a:ea typeface="arial"/>
              </a:rPr>
              <a:t>Vonalkód-olvasó integráció</a:t>
            </a:r>
            <a:endParaRPr lang="hu-HU" sz="17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750"/>
              </a:lnSpc>
              <a:buClr>
                <a:srgbClr val="D9E1FF"/>
              </a:buClr>
              <a:buFont typeface="Symbol"/>
              <a:buChar char=""/>
            </a:pPr>
            <a:r>
              <a:rPr lang="en-US" sz="1750" b="0" strike="noStrike" spc="-1">
                <a:solidFill>
                  <a:srgbClr val="D9E1FF"/>
                </a:solidFill>
                <a:latin typeface="Calibri Light"/>
                <a:ea typeface="arial"/>
              </a:rPr>
              <a:t>Statisztikák és riportok</a:t>
            </a:r>
            <a:endParaRPr lang="hu-HU" sz="1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9"/>
          <p:cNvSpPr/>
          <p:nvPr/>
        </p:nvSpPr>
        <p:spPr>
          <a:xfrm>
            <a:off x="837720" y="7199640"/>
            <a:ext cx="1295424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2750"/>
              </a:lnSpc>
              <a:tabLst>
                <a:tab pos="0" algn="l"/>
              </a:tabLst>
            </a:pPr>
            <a:endParaRPr lang="en-US" sz="1750" b="0" strike="noStrike" spc="-1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344" name="Picture 15"/>
          <p:cNvPicPr/>
          <p:nvPr/>
        </p:nvPicPr>
        <p:blipFill>
          <a:blip r:embed="rId3"/>
          <a:stretch/>
        </p:blipFill>
        <p:spPr>
          <a:xfrm>
            <a:off x="1355400" y="197640"/>
            <a:ext cx="2997720" cy="3646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1034</Words>
  <Application>Microsoft Office PowerPoint</Application>
  <PresentationFormat>Egyéni</PresentationFormat>
  <Paragraphs>132</Paragraphs>
  <Slides>10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7</vt:i4>
      </vt:variant>
      <vt:variant>
        <vt:lpstr>Diacímek</vt:lpstr>
      </vt:variant>
      <vt:variant>
        <vt:i4>10</vt:i4>
      </vt:variant>
    </vt:vector>
  </HeadingPairs>
  <TitlesOfParts>
    <vt:vector size="23" baseType="lpstr">
      <vt:lpstr>Arial</vt:lpstr>
      <vt:lpstr>Calibri Light</vt:lpstr>
      <vt:lpstr>Segoe UI Emoji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Udvari Dominik</cp:lastModifiedBy>
  <cp:revision>19</cp:revision>
  <dcterms:created xsi:type="dcterms:W3CDTF">2026-04-16T20:35:25Z</dcterms:created>
  <dcterms:modified xsi:type="dcterms:W3CDTF">2026-05-19T07:17:01Z</dcterms:modified>
  <dc:language>hu-HU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Custom</vt:lpwstr>
  </property>
  <property fmtid="{D5CDD505-2E9C-101B-9397-08002B2CF9AE}" pid="4" name="Slides">
    <vt:i4>11</vt:i4>
  </property>
</Properties>
</file>